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1389888"/>
            <a:ext cx="105156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664208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BIAS–VARIANCE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029968"/>
            <a:ext cx="10241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Bias² และ Variance</a:t>
            </a:r>
            <a:br/>
            <a:r>
              <a:rPr sz="3200" b="1">
                <a:solidFill>
                  <a:srgbClr val="FFFFFF"/>
                </a:solidFill>
                <a:latin typeface="Arial"/>
              </a:rPr>
              <a:t>ผ่านภาพและการจำลอง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56432"/>
            <a:ext cx="96926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ทำไมโมเดลที่ซับซ้อนกว่า ไม่ได้แปลว่าดีกว่าเสมอ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749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sin(πx)  •  x²  •  Learning Curves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รายงานผลการทดลอง  |  Machine Learning — Week 3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4617720"/>
            <a:ext cx="22860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464515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ผู้จัดทำ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4956048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นายสุภมงคล ชอบรัมย์</a:t>
            </a:r>
            <a:br/>
            <a:r>
              <a:rPr sz="1000" b="0">
                <a:solidFill>
                  <a:srgbClr val="FFFFFF"/>
                </a:solidFill>
                <a:latin typeface="Arial"/>
              </a:rPr>
              <a:t>นายชินวัตร กิตต๊ะ</a:t>
            </a:r>
            <a:br/>
            <a:r>
              <a:rPr sz="1000" b="0">
                <a:solidFill>
                  <a:srgbClr val="FFFFFF"/>
                </a:solidFill>
                <a:latin typeface="Arial"/>
              </a:rPr>
              <a:t>นายกฤตชัย พรายศรี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73152"/>
            <a:ext cx="5303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01  บทนำ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212529"/>
                </a:solidFill>
                <a:latin typeface="Arial"/>
              </a:rPr>
              <a:t>อ่านผลอย่างไร: Bias–Variance Decomposition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786384" cy="32004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10835640" cy="804672"/>
          </a:xfrm>
          <a:prstGeom prst="round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104698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212529"/>
                </a:solidFill>
                <a:latin typeface="Arial"/>
              </a:rPr>
              <a:t>E_out  =  Bias²  +  Variance  +  Noise²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Arial"/>
              </a:rPr>
              <a:t>นิยามสำคัญ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926080"/>
            <a:ext cx="54864" cy="19202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4436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D6A4F"/>
                </a:solidFill>
                <a:latin typeface="Arial"/>
              </a:rPr>
              <a:t>Bias²  |  ความเอนเอียง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10128"/>
            <a:ext cx="29718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12529"/>
                </a:solidFill>
                <a:latin typeface="Arial"/>
              </a:rPr>
              <a:t>โมเดลเฉลี่ยห่างจาก</a:t>
            </a:r>
            <a:br/>
            <a:r>
              <a:rPr sz="1500" b="0">
                <a:solidFill>
                  <a:srgbClr val="212529"/>
                </a:solidFill>
                <a:latin typeface="Arial"/>
              </a:rPr>
              <a:t>ฟังก์ชันเป้าหมายแค่ไหน</a:t>
            </a:r>
            <a:br/>
            <a:br/>
            <a:r>
              <a:rPr sz="1500" b="0">
                <a:solidFill>
                  <a:srgbClr val="212529"/>
                </a:solidFill>
                <a:latin typeface="Arial"/>
              </a:rPr>
              <a:t>สูง = โมเดลเรียบเกินไป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2" y="2926080"/>
            <a:ext cx="54864" cy="1920240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294436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77F00"/>
                </a:solidFill>
                <a:latin typeface="Arial"/>
              </a:rPr>
              <a:t>Variance  |  ความแปรปรวน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3310128"/>
            <a:ext cx="29718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12529"/>
                </a:solidFill>
                <a:latin typeface="Arial"/>
              </a:rPr>
              <a:t>โมเดลแกว่งมากแค่ไหน</a:t>
            </a:r>
            <a:br/>
            <a:r>
              <a:rPr sz="1500" b="0">
                <a:solidFill>
                  <a:srgbClr val="212529"/>
                </a:solidFill>
                <a:latin typeface="Arial"/>
              </a:rPr>
              <a:t>เมื่อเปลี่ยนชุดข้อมูลฝึก</a:t>
            </a:r>
            <a:br/>
            <a:br/>
            <a:r>
              <a:rPr sz="1500" b="0">
                <a:solidFill>
                  <a:srgbClr val="212529"/>
                </a:solidFill>
                <a:latin typeface="Arial"/>
              </a:rPr>
              <a:t>สูง = ไวต่อข้อมูลมาก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55864" y="2926080"/>
            <a:ext cx="54864" cy="1920240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944368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D62828"/>
                </a:solidFill>
                <a:latin typeface="Arial"/>
              </a:rPr>
              <a:t>Noise²  |  สัญญาณรบกวน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3310128"/>
            <a:ext cx="28346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12529"/>
                </a:solidFill>
                <a:latin typeface="Arial"/>
              </a:rPr>
              <a:t>ความคลาดเคลื่อนที่ลดไม่ได้</a:t>
            </a:r>
            <a:br/>
            <a:r>
              <a:rPr sz="1500" b="0">
                <a:solidFill>
                  <a:srgbClr val="212529"/>
                </a:solidFill>
                <a:latin typeface="Arial"/>
              </a:rPr>
              <a:t>จากข้อมูลที่มี noise</a:t>
            </a:r>
            <a:br/>
            <a:br/>
            <a:r>
              <a:rPr sz="1500" b="0">
                <a:solidFill>
                  <a:srgbClr val="212529"/>
                </a:solidFill>
                <a:latin typeface="Arial"/>
              </a:rPr>
              <a:t>σ เพิ่ม → Eout สูงขึ้น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5230368"/>
            <a:ext cx="9738360" cy="658368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81328" y="5413248"/>
            <a:ext cx="9235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ประเด็นสำคัญ: เป้าหมายคือ Eout ต่ำ ไม่ใช่แค่ Ein ต่ำบนชุดฝึก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382512"/>
            <a:ext cx="11045952" cy="10972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473952"/>
            <a:ext cx="6217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Machine Learning — Week 3  |  Bias-Variance 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82528" y="6455664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C757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73152"/>
            <a:ext cx="5303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02  ผลลัพธ์ Bias-Variance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212529"/>
                </a:solidFill>
                <a:latin typeface="Arial"/>
              </a:rPr>
              <a:t>ผลลัพธ์เมื่อเป้าหมายคือ sin(πx)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786384" cy="32004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1430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C757D"/>
                </a:solidFill>
                <a:latin typeface="Arial"/>
              </a:rPr>
              <a:t>ค่าเฉลี่ยจากการสุ่มชุดข้อมูลฝึก n = 2 จำนวน 50,000 ชุด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444752"/>
          <a:ext cx="11045952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2560320"/>
                <a:gridCol w="2743200"/>
                <a:gridCol w="2496312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โมเดล</a:t>
                      </a:r>
                    </a:p>
                  </a:txBody>
                  <a:tcPr anchor="ctr" marL="73152" marR="73152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Bias²</a:t>
                      </a:r>
                    </a:p>
                  </a:txBody>
                  <a:tcPr anchor="ctr" marL="73152" marR="73152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Variance</a:t>
                      </a:r>
                    </a:p>
                  </a:txBody>
                  <a:tcPr anchor="ctr" marL="73152" marR="73152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Eout</a:t>
                      </a:r>
                    </a:p>
                  </a:txBody>
                  <a:tcPr anchor="ctr" marL="73152" marR="73152">
                    <a:solidFill>
                      <a:srgbClr val="2D6A4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12529"/>
                          </a:solidFill>
                          <a:latin typeface="Arial"/>
                        </a:rPr>
                        <a:t>Constant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12529"/>
                          </a:solidFill>
                          <a:latin typeface="Arial"/>
                        </a:rPr>
                        <a:t>0.4983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12529"/>
                          </a:solidFill>
                          <a:latin typeface="Arial"/>
                        </a:rPr>
                        <a:t>0.2500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12529"/>
                          </a:solidFill>
                          <a:latin typeface="Arial"/>
                        </a:rPr>
                        <a:t>0.7483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12529"/>
                          </a:solidFill>
                          <a:latin typeface="Arial"/>
                        </a:rPr>
                        <a:t>Linear</a:t>
                      </a:r>
                    </a:p>
                  </a:txBody>
                  <a:tcPr anchor="ctr" marL="73152" marR="73152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12529"/>
                          </a:solidFill>
                          <a:latin typeface="Arial"/>
                        </a:rPr>
                        <a:t>0.2080</a:t>
                      </a:r>
                    </a:p>
                  </a:txBody>
                  <a:tcPr anchor="ctr" marL="73152" marR="73152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12529"/>
                          </a:solidFill>
                          <a:latin typeface="Arial"/>
                        </a:rPr>
                        <a:t>1.6755</a:t>
                      </a:r>
                    </a:p>
                  </a:txBody>
                  <a:tcPr anchor="ctr" marL="73152" marR="73152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12529"/>
                          </a:solidFill>
                          <a:latin typeface="Arial"/>
                        </a:rPr>
                        <a:t>1.8835</a:t>
                      </a:r>
                    </a:p>
                  </a:txBody>
                  <a:tcPr anchor="ctr" marL="73152" marR="73152">
                    <a:solidFill>
                      <a:srgbClr val="E9EC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D6A4F"/>
                          </a:solidFill>
                          <a:latin typeface="Arial"/>
                        </a:rPr>
                        <a:t>Linear ผ่านจุดกำเนิด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D6A4F"/>
                          </a:solidFill>
                          <a:latin typeface="Arial"/>
                        </a:rPr>
                        <a:t>0.2755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D6A4F"/>
                          </a:solidFill>
                          <a:latin typeface="Arial"/>
                        </a:rPr>
                        <a:t>0.2380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D6A4F"/>
                          </a:solidFill>
                          <a:latin typeface="Arial"/>
                        </a:rPr>
                        <a:t>0.5135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400507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Arial"/>
              </a:rPr>
              <a:t>ข้อสังเกต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407408"/>
            <a:ext cx="54864" cy="1005840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416552"/>
            <a:ext cx="105613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12529"/>
                </a:solidFill>
                <a:latin typeface="Arial"/>
              </a:rPr>
              <a:t>Linear มี Bias² ต่ำ  แต่ Variance สูงมาก    ผู้ชนะ: Linear ผ่านจุดกำเนิด  เพราะ Eout ต่ำสุด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733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latin typeface="Arial"/>
              </a:rPr>
              <a:t>สีเขียว = Eout ต่ำสุดในเป้าหมายนี้  |  Bias² ต่ำอย่างเดียวไม่พอ ถ้า Variance สูง Eout อาจแย่ลงได้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73152"/>
            <a:ext cx="5303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02  ผลลัพธ์ Bias-Variance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212529"/>
                </a:solidFill>
                <a:latin typeface="Arial"/>
              </a:rPr>
              <a:t>ผลลัพธ์เมื่อเป้าหมายคือ x²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786384" cy="32004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1430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C757D"/>
                </a:solidFill>
                <a:latin typeface="Arial"/>
              </a:rPr>
              <a:t>ค่าเฉลี่ยจากการสุ่มชุดข้อมูลฝึก n = 2 จำนวน 50,000 ชุด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444752"/>
          <a:ext cx="11045952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2560320"/>
                <a:gridCol w="2743200"/>
                <a:gridCol w="2496312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โมเดล</a:t>
                      </a:r>
                    </a:p>
                  </a:txBody>
                  <a:tcPr anchor="ctr" marL="73152" marR="73152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Bias²</a:t>
                      </a:r>
                    </a:p>
                  </a:txBody>
                  <a:tcPr anchor="ctr" marL="73152" marR="73152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Variance</a:t>
                      </a:r>
                    </a:p>
                  </a:txBody>
                  <a:tcPr anchor="ctr" marL="73152" marR="73152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Eout</a:t>
                      </a:r>
                    </a:p>
                  </a:txBody>
                  <a:tcPr anchor="ctr" marL="73152" marR="73152">
                    <a:solidFill>
                      <a:srgbClr val="2D6A4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D6A4F"/>
                          </a:solidFill>
                          <a:latin typeface="Arial"/>
                        </a:rPr>
                        <a:t>Constant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D6A4F"/>
                          </a:solidFill>
                          <a:latin typeface="Arial"/>
                        </a:rPr>
                        <a:t>0.0901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D6A4F"/>
                          </a:solidFill>
                          <a:latin typeface="Arial"/>
                        </a:rPr>
                        <a:t>0.0445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D6A4F"/>
                          </a:solidFill>
                          <a:latin typeface="Arial"/>
                        </a:rPr>
                        <a:t>0.1346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12529"/>
                          </a:solidFill>
                          <a:latin typeface="Arial"/>
                        </a:rPr>
                        <a:t>Linear</a:t>
                      </a:r>
                    </a:p>
                  </a:txBody>
                  <a:tcPr anchor="ctr" marL="73152" marR="73152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12529"/>
                          </a:solidFill>
                          <a:latin typeface="Arial"/>
                        </a:rPr>
                        <a:t>0.2017</a:t>
                      </a:r>
                    </a:p>
                  </a:txBody>
                  <a:tcPr anchor="ctr" marL="73152" marR="73152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12529"/>
                          </a:solidFill>
                          <a:latin typeface="Arial"/>
                        </a:rPr>
                        <a:t>0.3324</a:t>
                      </a:r>
                    </a:p>
                  </a:txBody>
                  <a:tcPr anchor="ctr" marL="73152" marR="73152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12529"/>
                          </a:solidFill>
                          <a:latin typeface="Arial"/>
                        </a:rPr>
                        <a:t>0.5342</a:t>
                      </a:r>
                    </a:p>
                  </a:txBody>
                  <a:tcPr anchor="ctr" marL="73152" marR="73152">
                    <a:solidFill>
                      <a:srgbClr val="E9EC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12529"/>
                          </a:solidFill>
                          <a:latin typeface="Arial"/>
                        </a:rPr>
                        <a:t>Linear ผ่านจุดกำเนิด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12529"/>
                          </a:solidFill>
                          <a:latin typeface="Arial"/>
                        </a:rPr>
                        <a:t>0.2027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12529"/>
                          </a:solidFill>
                          <a:latin typeface="Arial"/>
                        </a:rPr>
                        <a:t>0.1158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12529"/>
                          </a:solidFill>
                          <a:latin typeface="Arial"/>
                        </a:rPr>
                        <a:t>0.3185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400507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Arial"/>
              </a:rPr>
              <a:t>ข้อสังเกต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407408"/>
            <a:ext cx="54864" cy="1005840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416552"/>
            <a:ext cx="105613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12529"/>
                </a:solidFill>
                <a:latin typeface="Arial"/>
              </a:rPr>
              <a:t>Constant ชนะอย่างชัดเจน  เพราะ x² สมมาตร    ความซับซ้อนเพิ่มขึ้น  ไม่ได้ช่วยให้ Eout ต่ำลง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733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latin typeface="Arial"/>
              </a:rPr>
              <a:t>สีเขียว = Eout ต่ำสุดในเป้าหมายนี้  |  Bias² ต่ำอย่างเดียวไม่พอ ถ้า Variance สูง Eout อาจแย่ลงได้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73152"/>
            <a:ext cx="5303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03  ภาพประกอบ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212529"/>
                </a:solidFill>
                <a:latin typeface="Arial"/>
              </a:rPr>
              <a:t>ภาพรวม: โมเดลเฉลี่ยและความแกว่ง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786384" cy="32004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verage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616" y="1170432"/>
            <a:ext cx="9172575" cy="4892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6144768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C757D"/>
                </a:solidFill>
                <a:latin typeface="Arial"/>
              </a:rPr>
              <a:t>เส้นเขียว = เป้าหมายจริง  |  เส้นประแดง = โมเดลเฉลี่ย  |  แถบแดง = ±1 std  |  เส้นเทา = ตัวอย่างโมเดลจากชุดข้อมูลต่างกัน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382512"/>
            <a:ext cx="11045952" cy="10972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217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Machine Learning — Week 3  |  Bias-Variance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455664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C757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73152"/>
            <a:ext cx="5303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03  ภาพประกอบ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212529"/>
                </a:solidFill>
                <a:latin typeface="Arial"/>
              </a:rPr>
              <a:t>Learning Curve: เมื่อเพิ่มจำนวนข้อมูล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786384" cy="32004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ear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616" y="1170432"/>
            <a:ext cx="9172575" cy="4892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6144768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C757D"/>
                </a:solidFill>
                <a:latin typeface="Arial"/>
              </a:rPr>
              <a:t>เส้นประ = Ein  |  เส้นทึบ = Eout  |  สีน้ำเงิน = σ 0.0  |  สีส้ม = σ 0.3  |  อ่านแนวโน้มจากซ้ายไปขวาเมื่อ n เพิ่มขึ้น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382512"/>
            <a:ext cx="11045952" cy="10972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217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Machine Learning — Week 3  |  Bias-Variance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455664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C757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