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1389888"/>
            <a:ext cx="1051560" cy="320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66420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BIAS–VARIANCE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029968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Bias² และ Variance</a:t>
            </a:r>
            <a:br/>
            <a:r>
              <a:rPr sz="3200" b="1">
                <a:solidFill>
                  <a:srgbClr val="FFFFFF"/>
                </a:solidFill>
                <a:latin typeface="Arial"/>
              </a:rPr>
              <a:t>ผ่านภาพและการจำลอง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56432"/>
            <a:ext cx="96926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ทำไมโมเดลที่ซับซ้อนกว่า ไม่ได้แปลว่าดีกว่าเสมอ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</a:rPr>
              <a:t>sin(πx)  •  x²  •  Learning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รายงานผลการทดลอง  |  Machine Learning — Week 3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4617720"/>
            <a:ext cx="22860" cy="1353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464515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ผู้จัดทำ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95604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นายสุภมงคล ชอบรัมย์</a:t>
            </a:r>
            <a:br/>
            <a:r>
              <a:rPr sz="1000" b="0">
                <a:solidFill>
                  <a:srgbClr val="FFFFFF"/>
                </a:solidFill>
                <a:latin typeface="Arial"/>
              </a:rPr>
              <a:t>นายชินวัตร กิตต๊ะ</a:t>
            </a:r>
            <a:br/>
            <a:r>
              <a:rPr sz="1000" b="0">
                <a:solidFill>
                  <a:srgbClr val="FFFFFF"/>
                </a:solidFill>
                <a:latin typeface="Arial"/>
              </a:rPr>
              <a:t>นายกฤตชัย พรายศรี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01  บทนำ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อ่านผลอย่างไร: Bias–Variance Decomposition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10835640" cy="804672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10469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500" b="1">
                <a:solidFill>
                  <a:srgbClr val="212529"/>
                </a:solidFill>
                <a:latin typeface="Arial"/>
              </a:rPr>
              <a:t>E_out  =  Bias²  +  Variance  +  Noise²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Arial"/>
              </a:rPr>
              <a:t>นิยามสำคัญ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834640"/>
            <a:ext cx="3401568" cy="2084831"/>
          </a:xfrm>
          <a:prstGeom prst="rect">
            <a:avLst/>
          </a:prstGeom>
          <a:solidFill>
            <a:srgbClr val="FFFFFF"/>
          </a:solidFill>
          <a:ln w="54864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2834640"/>
            <a:ext cx="3401568" cy="2084831"/>
          </a:xfrm>
          <a:prstGeom prst="rect">
            <a:avLst/>
          </a:prstGeom>
          <a:solidFill>
            <a:srgbClr val="FFFFFF"/>
          </a:solidFill>
          <a:ln w="54864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55864" y="2834640"/>
            <a:ext cx="3456432" cy="2084831"/>
          </a:xfrm>
          <a:prstGeom prst="rect">
            <a:avLst/>
          </a:prstGeom>
          <a:solidFill>
            <a:srgbClr val="FFFFFF"/>
          </a:solidFill>
          <a:ln w="54864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926080"/>
            <a:ext cx="54864" cy="1920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443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D6A4F"/>
                </a:solidFill>
                <a:latin typeface="Arial"/>
              </a:rPr>
              <a:t>Bias²  |  ความเอนเอียง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10128"/>
            <a:ext cx="29718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12529"/>
                </a:solidFill>
                <a:latin typeface="Arial"/>
              </a:rPr>
              <a:t>โมเดลเฉลี่ยห่างจาก</a:t>
            </a:r>
            <a:br/>
            <a:r>
              <a:rPr sz="1500" b="0">
                <a:solidFill>
                  <a:srgbClr val="212529"/>
                </a:solidFill>
                <a:latin typeface="Arial"/>
              </a:rPr>
              <a:t>ฟังก์ชันเป้าหมายแค่ไหน</a:t>
            </a:r>
            <a:br/>
            <a:br/>
            <a:r>
              <a:rPr sz="1500" b="0">
                <a:solidFill>
                  <a:srgbClr val="212529"/>
                </a:solidFill>
                <a:latin typeface="Arial"/>
              </a:rPr>
              <a:t>สูง = โมเดลเรียบเกินไป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70832" y="2926080"/>
            <a:ext cx="54864" cy="1920240"/>
          </a:xfrm>
          <a:prstGeom prst="rect">
            <a:avLst/>
          </a:prstGeom>
          <a:solidFill>
            <a:srgbClr val="F77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9443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77F00"/>
                </a:solidFill>
                <a:latin typeface="Arial"/>
              </a:rPr>
              <a:t>Variance  |  ความแปรปรวน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3310128"/>
            <a:ext cx="29718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12529"/>
                </a:solidFill>
                <a:latin typeface="Arial"/>
              </a:rPr>
              <a:t>โมเดลแกว่งมากแค่ไหน</a:t>
            </a:r>
            <a:br/>
            <a:r>
              <a:rPr sz="1500" b="0">
                <a:solidFill>
                  <a:srgbClr val="212529"/>
                </a:solidFill>
                <a:latin typeface="Arial"/>
              </a:rPr>
              <a:t>เมื่อเปลี่ยนชุดข้อมูลฝึก</a:t>
            </a:r>
            <a:br/>
            <a:br/>
            <a:r>
              <a:rPr sz="1500" b="0">
                <a:solidFill>
                  <a:srgbClr val="212529"/>
                </a:solidFill>
                <a:latin typeface="Arial"/>
              </a:rPr>
              <a:t>สูง = ไวต่อข้อมูลมาก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5864" y="2926080"/>
            <a:ext cx="54864" cy="1920240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4464" y="2944368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D62828"/>
                </a:solidFill>
                <a:latin typeface="Arial"/>
              </a:rPr>
              <a:t>Noise²  |  สัญญาณรบกวน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310128"/>
            <a:ext cx="2834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212529"/>
                </a:solidFill>
                <a:latin typeface="Arial"/>
              </a:rPr>
              <a:t>ความคลาดเคลื่อนที่ลดไม่ได้</a:t>
            </a:r>
            <a:br/>
            <a:r>
              <a:rPr sz="1500" b="0">
                <a:solidFill>
                  <a:srgbClr val="212529"/>
                </a:solidFill>
                <a:latin typeface="Arial"/>
              </a:rPr>
              <a:t>จากข้อมูลที่มี noise</a:t>
            </a:r>
            <a:br/>
            <a:br/>
            <a:r>
              <a:rPr sz="1500" b="0">
                <a:solidFill>
                  <a:srgbClr val="212529"/>
                </a:solidFill>
                <a:latin typeface="Arial"/>
              </a:rPr>
              <a:t>σ เพิ่ม → Eout สูงขึ้น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5230368"/>
            <a:ext cx="9738360" cy="65836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81328" y="5413248"/>
            <a:ext cx="9235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ประเด็นสำคัญ: เป้าหมายคือ Eout ต่ำ ไม่ใช่แค่ Ein ต่ำบนชุดฝึก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473952"/>
            <a:ext cx="6217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3  |  Bias-Variance Lab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02  ผลลัพธ์ Bias-Variance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ผลลัพธ์เมื่อเป้าหมายคือ sin(πx)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430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ค่าเฉลี่ยจากการสุ่มชุดข้อมูลฝึก n = 2 จำนวน 50,000 ชุด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444752"/>
          <a:ext cx="11045951" cy="2542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874519"/>
                <a:gridCol w="1920240"/>
                <a:gridCol w="2240280"/>
                <a:gridCol w="2496312"/>
              </a:tblGrid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โมเดล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Bias²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Variance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Eout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Eout (sim)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0.5000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0.2500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0.7500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0.7491</a:t>
                      </a:r>
                    </a:p>
                  </a:txBody>
                  <a:tcPr anchor="ctr" marL="54864" marR="54864" marT="18288" marB="18288">
                    <a:solidFill>
                      <a:srgbClr val="EDF7E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Linear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0.2060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1.6703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1.8763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1.8625</a:t>
                      </a:r>
                    </a:p>
                  </a:txBody>
                  <a:tcPr anchor="ctr" marL="54864" marR="54864" marT="18288" marB="18288">
                    <a:solidFill>
                      <a:srgbClr val="EDF7E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Linear ผ่านจุดกำเนิด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0.2718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0.2372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0.5090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0.5151</a:t>
                      </a:r>
                    </a:p>
                  </a:txBody>
                  <a:tcPr anchor="ctr" marL="54864" marR="54864" marT="18288" marB="18288">
                    <a:solidFill>
                      <a:srgbClr val="DFF2E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40416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Arial"/>
              </a:rPr>
              <a:t>ข้อสังเกต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407408"/>
            <a:ext cx="54864" cy="1005840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16552"/>
            <a:ext cx="105613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Linear มี Bias² ต่ำ  แต่ Variance สูงมาก    ผู้ชนะ: Linear ผ่านจุดกำเนิด  เพราะ Eout ต่ำสุด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73328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Arial"/>
              </a:rPr>
              <a:t>คำนวณมือ: จาก คำนวณมือ.pdf  |  โค้ด: simulation จาก results.json  |  สีเขียวอ่อน = Eout จากโค้ดต่ำสุด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02  ผลลัพธ์ Bias-Variance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ผลลัพธ์เมื่อเป้าหมายคือ x²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14300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C757D"/>
                </a:solidFill>
                <a:latin typeface="Arial"/>
              </a:rPr>
              <a:t>ค่าเฉลี่ยจากการสุ่มชุดข้อมูลฝึก n = 2 จำนวน 50,000 ชุด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444752"/>
          <a:ext cx="11045951" cy="2542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874519"/>
                <a:gridCol w="1920240"/>
                <a:gridCol w="2240280"/>
                <a:gridCol w="2496312"/>
              </a:tblGrid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โมเดล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Bias²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Variance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Eout (มือ)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Eout (sim)</a:t>
                      </a:r>
                    </a:p>
                  </a:txBody>
                  <a:tcPr anchor="ctr" marL="54864" marR="54864" marT="18288" marB="18288">
                    <a:solidFill>
                      <a:srgbClr val="2D6A4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Constant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0.0889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0.0444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0.1333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D6A4F"/>
                          </a:solidFill>
                          <a:latin typeface="Arial"/>
                        </a:rPr>
                        <a:t>0.1346</a:t>
                      </a:r>
                    </a:p>
                  </a:txBody>
                  <a:tcPr anchor="ctr" marL="54864" marR="54864" marT="18288" marB="18288">
                    <a:solidFill>
                      <a:srgbClr val="DFF2E3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Linear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0.2000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0.3333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0.5333</a:t>
                      </a:r>
                    </a:p>
                  </a:txBody>
                  <a:tcPr anchor="ctr" marL="54864" marR="54864" marT="18288" marB="18288">
                    <a:solidFill>
                      <a:srgbClr val="E9EC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0.5414</a:t>
                      </a:r>
                    </a:p>
                  </a:txBody>
                  <a:tcPr anchor="ctr" marL="54864" marR="54864" marT="18288" marB="18288">
                    <a:solidFill>
                      <a:srgbClr val="EDF7EF"/>
                    </a:solidFill>
                  </a:tcPr>
                </a:tc>
              </a:tr>
              <a:tr h="6355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Linear ผ่านจุดกำเนิด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0.2000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0.1147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0.3147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12529"/>
                          </a:solidFill>
                          <a:latin typeface="Arial"/>
                        </a:rPr>
                        <a:t>0.3182</a:t>
                      </a:r>
                    </a:p>
                  </a:txBody>
                  <a:tcPr anchor="ctr" marL="54864" marR="54864" marT="18288" marB="18288">
                    <a:solidFill>
                      <a:srgbClr val="EDF7E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40416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12529"/>
                </a:solidFill>
                <a:latin typeface="Arial"/>
              </a:rPr>
              <a:t>ข้อสังเกต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407408"/>
            <a:ext cx="54864" cy="1005840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16552"/>
            <a:ext cx="1056132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212529"/>
                </a:solidFill>
                <a:latin typeface="Arial"/>
              </a:rPr>
              <a:t>Constant ชนะอย่างชัดเจน  เพราะ x² สมมาตร    ความซับซ้อนเพิ่มขึ้น  ไม่ได้ช่วยให้ Eout ต่ำลง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73328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C757D"/>
                </a:solidFill>
                <a:latin typeface="Arial"/>
              </a:rPr>
              <a:t>คำนวณมือ: จาก คำนวณมือ.pdf  |  โค้ด: simulation จาก results.json  |  สีเขียวอ่อน = Eout จากโค้ดต่ำสุด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03  ภาพประกอบ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ภาพรวม: โมเดลเฉลี่ยและความแกว่ง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verage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616" y="1170432"/>
            <a:ext cx="9172575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614476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เส้นเขียว = เป้าหมายจริง  |  เส้นประแดง = โมเดลเฉลี่ย  |  แถบแดง = ±1 std  |  เส้นเทา = ตัวอย่างโมเดลจากชุดข้อมูลต่างกัน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217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3  |  Bias-Variance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73152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03  ภาพประกอบ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30352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>
                <a:solidFill>
                  <a:srgbClr val="212529"/>
                </a:solidFill>
                <a:latin typeface="Arial"/>
              </a:rPr>
              <a:t>Learning Curve: เมื่อเพิ่มจำนวนข้อมูล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987552"/>
            <a:ext cx="786384" cy="32004"/>
          </a:xfrm>
          <a:prstGeom prst="rect">
            <a:avLst/>
          </a:prstGeom>
          <a:solidFill>
            <a:srgbClr val="D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3616" y="1170432"/>
            <a:ext cx="9172575" cy="4892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6144768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C757D"/>
                </a:solidFill>
                <a:latin typeface="Arial"/>
              </a:rPr>
              <a:t>เส้นประ = Ein  |  เส้นทึบ = Eout  |  สีน้ำเงิน = σ 0.0  |  สีส้ม = σ 0.3  |  อ่านแนวโน้มจากซ้ายไปขวาเมื่อ n เพิ่มขึ้น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82512"/>
            <a:ext cx="11045952" cy="10972"/>
          </a:xfrm>
          <a:prstGeom prst="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217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C757D"/>
                </a:solidFill>
                <a:latin typeface="Arial"/>
              </a:rPr>
              <a:t>Machine Learning — Week 3  |  Bias-Variance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82528" y="6455664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