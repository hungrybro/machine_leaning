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3a290f2c2b4ec2" /><Relationship Type="http://schemas.openxmlformats.org/officeDocument/2006/relationships/extended-properties" Target="/docProps/app.xml" Id="R7dea7233d8954ec7" /><Relationship Type="http://schemas.openxmlformats.org/officeDocument/2006/relationships/officeDocument" Target="/ppt/presentation.xml" Id="Rda4943cdc68241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5e7f7f3c614334"/>
  </p:sldMasterIdLst>
  <p:notesMasterIdLst>
    <p:notesMasterId xmlns:r="http://schemas.openxmlformats.org/officeDocument/2006/relationships" r:id="Rfaaf659079ff4110"/>
  </p:notesMasterIdLst>
  <p:sldIdLst>
    <p:sldId xmlns:r="http://schemas.openxmlformats.org/officeDocument/2006/relationships" id="256" r:id="Re86746b3a2f4494c"/>
    <p:sldId xmlns:r="http://schemas.openxmlformats.org/officeDocument/2006/relationships" id="257" r:id="R25e9487896494d85"/>
    <p:sldId xmlns:r="http://schemas.openxmlformats.org/officeDocument/2006/relationships" id="258" r:id="Rc314dd12bf9f496a"/>
    <p:sldId xmlns:r="http://schemas.openxmlformats.org/officeDocument/2006/relationships" id="259" r:id="R328415f60c6e4eb3"/>
    <p:sldId xmlns:r="http://schemas.openxmlformats.org/officeDocument/2006/relationships" id="260" r:id="R8dd793d4d181476d"/>
    <p:sldId xmlns:r="http://schemas.openxmlformats.org/officeDocument/2006/relationships" id="261" r:id="R22535cd9a34d4805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f8344319ed43a1" /><Relationship Type="http://schemas.openxmlformats.org/officeDocument/2006/relationships/slideMaster" Target="/ppt/slideMasters/slideMaster1.xml" Id="R4c5e7f7f3c614334" /><Relationship Type="http://schemas.openxmlformats.org/officeDocument/2006/relationships/notesMaster" Target="/ppt/notesMasters/notesMaster1.xml" Id="Rfaaf659079ff4110" /><Relationship Type="http://schemas.openxmlformats.org/officeDocument/2006/relationships/presProps" Target="/ppt/presProps.xml" Id="Red1f5a3974a94339" /><Relationship Type="http://schemas.openxmlformats.org/officeDocument/2006/relationships/viewProps" Target="/ppt/viewProps.xml" Id="R898580cf47154cca" /><Relationship Type="http://schemas.openxmlformats.org/officeDocument/2006/relationships/tableStyles" Target="/ppt/tableStyles.xml" Id="R39a6f6c7e2904b40" /><Relationship Type="http://schemas.openxmlformats.org/officeDocument/2006/relationships/slide" Target="/ppt/slides/slide1.xml" Id="Re86746b3a2f4494c" /><Relationship Type="http://schemas.openxmlformats.org/officeDocument/2006/relationships/slide" Target="/ppt/slides/slide2.xml" Id="R25e9487896494d85" /><Relationship Type="http://schemas.openxmlformats.org/officeDocument/2006/relationships/slide" Target="/ppt/slides/slide3.xml" Id="Rc314dd12bf9f496a" /><Relationship Type="http://schemas.openxmlformats.org/officeDocument/2006/relationships/slide" Target="/ppt/slides/slide4.xml" Id="R328415f60c6e4eb3" /><Relationship Type="http://schemas.openxmlformats.org/officeDocument/2006/relationships/slide" Target="/ppt/slides/slide5.xml" Id="R8dd793d4d181476d" /><Relationship Type="http://schemas.openxmlformats.org/officeDocument/2006/relationships/slide" Target="/ppt/slides/slide6.xml" Id="R22535cd9a34d48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881b18c4a247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698ba8ef13480d" /><Relationship Type="http://schemas.openxmlformats.org/officeDocument/2006/relationships/notesMaster" Target="/ppt/notesMasters/notesMaster1.xml" Id="Ra5afe754b46643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5a7fabeaca46a2" /><Relationship Type="http://schemas.openxmlformats.org/officeDocument/2006/relationships/notesMaster" Target="/ppt/notesMasters/notesMaster1.xml" Id="R1899b75272344a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d4d30e048a442d" /><Relationship Type="http://schemas.openxmlformats.org/officeDocument/2006/relationships/notesMaster" Target="/ppt/notesMasters/notesMaster1.xml" Id="R5d49bbec90d642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5eee774b1442b4" /><Relationship Type="http://schemas.openxmlformats.org/officeDocument/2006/relationships/notesMaster" Target="/ppt/notesMasters/notesMaster1.xml" Id="Rb9ca2704194542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14751d7f1142d2" /><Relationship Type="http://schemas.openxmlformats.org/officeDocument/2006/relationships/notesMaster" Target="/ppt/notesMasters/notesMaster1.xml" Id="R59594adb631847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2aba92b66344ab" /><Relationship Type="http://schemas.openxmlformats.org/officeDocument/2006/relationships/notesMaster" Target="/ppt/notesMasters/notesMaster1.xml" Id="Rd80ab925c5024c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34c8fa8c1f4f0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55f301094d486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6d7eb5fa88474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3379d228da4c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c1ffe4c59f43a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e23e7679ac4f6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feca7361df4c4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5abb1b60242b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54b5e407164d4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25d2f442da480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fb8c365e224dd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1CE30B-8142-4042-9AAE-22372E08CE2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93308A1-FB53-4A25-9B66-2532E262D5C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0FE16AC-4327-4FDA-9D63-A7A708CE5C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50B73EF-1CA5-491E-ABD1-1FF3B194B2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3FB7DF8-B11D-4706-8CA6-4B04ADE79D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704528-3A46-48F3-B028-823641ADEF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8BD528-551B-4E4F-858F-C4E83ADDAD9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F55D61-7BD6-48F2-A4B4-B0946752C9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740EED7-50F3-4DE4-9290-A62C24D98B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342E0B7-1409-49AF-B292-21694B9305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B920A64-4CF0-491F-A3F0-DA140A3880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A67E494-E7AD-49A0-8619-BBAA36706F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A29091A-ECC3-428F-AE48-98FE2CFDDC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CCBF5C-B8B1-4CCC-A5FC-D4D905B4A8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18DDD50-36A7-49C2-919C-38B6649C29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CAACBB3-467E-44B4-BC06-47963EAB32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5FF7151-2958-4558-A8E5-834FD2AEB68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CA5CF5A-7CBC-4438-BAA6-DCAC38B27DC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0713331-586E-4808-BBA7-F816E35EFD8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046895D-3E8C-4EAF-8D82-42AACB4397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3D6AF09-BA66-493F-B0E2-F3B44E441B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8F32FF-6CFB-46FB-B0A7-AAA8E2C379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1F523B5-F484-4466-B9BC-C465B3AA0D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14C7D88-AA71-4647-B2DF-4D85673EA93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BF70E58-5E14-4C52-849C-B2597C257D4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8B9AB06-E0E9-4BF0-8A4D-7BED8BFE492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91A9C3B-8D11-405B-9FB4-E9E4BFA2A71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F634C1E-5EFE-4A56-AA09-E1001112D7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D3303AE-DF35-4CF5-B6CE-EFE95EE51B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64CCBE-A070-4FF4-85FF-86A245F5F5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A197537-2444-46EE-9410-8EBFF14690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C603202-550B-4EC9-BC43-C91FD23564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320F8DD-24AE-4A17-8023-718453EA15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93B4F47-0AAB-4009-831B-05FA5363D1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BCEE1F2-9FC9-4B87-907F-2ACF034884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285CF92-EB50-44EC-9913-546C4EE4F4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3E967A-A89B-4085-8C65-E4BF446B6F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54E51DD-340E-4B5C-BF3E-4D893D32DFB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892F22A-CEED-4DF4-B424-D754731D60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5C24AD-946A-486E-B771-49FF539F53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126B705-2EDB-4A15-A072-C9C2AB41A5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5BC5C6B-3ECA-4B29-A46C-FC68C5108B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8746C2-9220-4DE1-8895-446AAC1C69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7DA5CD7-D974-4D52-B7FA-DA1E46129A3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31D95C-B740-4413-AAB4-243FF57835F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E92F5A1-0E7D-44CE-B795-0E2657C5972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FF13DC4-F729-4E2F-A2E4-CF673BBE7A0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D0BE7E-7DFC-468B-A7F5-AE25FD7752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7F85675-1834-4C76-B34E-20F1339572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21159E-F793-4CE3-89B3-AE4B15DAE2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0476693-D425-430F-AEEC-DE8AB785AC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FD00DE-043E-4281-8578-65B3AAD96FB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52E54D-0D9D-4656-B062-CC1107F3D4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A4C40E0-D464-45BC-B2C4-86799F70E5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2F130B8-1AE2-468E-B93E-425F73A897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C070253-5635-4605-AF89-93794C0B81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B4FA1B-B85E-496C-ACAA-ACC63D6445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DDB273B-A8D4-4638-8BEB-3CD07735E1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70781731054e20" /><Relationship Type="http://schemas.openxmlformats.org/officeDocument/2006/relationships/slideLayout" Target="/ppt/slideLayouts/slideLayout1.xml" Id="R0c0310428ac44a08" /><Relationship Type="http://schemas.openxmlformats.org/officeDocument/2006/relationships/slideLayout" Target="/ppt/slideLayouts/slideLayout2.xml" Id="Rca1014fd6f0c41c4" /><Relationship Type="http://schemas.openxmlformats.org/officeDocument/2006/relationships/slideLayout" Target="/ppt/slideLayouts/slideLayout3.xml" Id="Rd84e886b72fb4ada" /><Relationship Type="http://schemas.openxmlformats.org/officeDocument/2006/relationships/slideLayout" Target="/ppt/slideLayouts/slideLayout4.xml" Id="R59e778abcb474fe2" /><Relationship Type="http://schemas.openxmlformats.org/officeDocument/2006/relationships/slideLayout" Target="/ppt/slideLayouts/slideLayout5.xml" Id="R915bb6de4bc4403f" /><Relationship Type="http://schemas.openxmlformats.org/officeDocument/2006/relationships/slideLayout" Target="/ppt/slideLayouts/slideLayout6.xml" Id="R759da10abacc44ba" /><Relationship Type="http://schemas.openxmlformats.org/officeDocument/2006/relationships/slideLayout" Target="/ppt/slideLayouts/slideLayout7.xml" Id="R10747926a28343bc" /><Relationship Type="http://schemas.openxmlformats.org/officeDocument/2006/relationships/slideLayout" Target="/ppt/slideLayouts/slideLayout8.xml" Id="R563144bf2b474e26" /><Relationship Type="http://schemas.openxmlformats.org/officeDocument/2006/relationships/slideLayout" Target="/ppt/slideLayouts/slideLayout9.xml" Id="Rb9c8e4db9ae9481c" /><Relationship Type="http://schemas.openxmlformats.org/officeDocument/2006/relationships/slideLayout" Target="/ppt/slideLayouts/slideLayout10.xml" Id="Rdccde551e0254f24" /><Relationship Type="http://schemas.openxmlformats.org/officeDocument/2006/relationships/slideLayout" Target="/ppt/slideLayouts/slideLayout11.xml" Id="R8e2671590d164ae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DA0D8C6-2E4B-44C4-AD0F-390A347DA4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7DEE2B-35D1-4386-AAE8-63CDC08F4D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FF0901-5A2C-44F3-A80D-BA6455AA9C1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25DCEFF-5D2B-4FB3-9349-E64B73D7254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2C4F1C-A0EC-49B8-A115-C591E5C88C7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0310428ac44a08"/>
    <p:sldLayoutId xmlns:r="http://schemas.openxmlformats.org/officeDocument/2006/relationships" id="2147483650" r:id="Rca1014fd6f0c41c4"/>
    <p:sldLayoutId xmlns:r="http://schemas.openxmlformats.org/officeDocument/2006/relationships" id="2147483651" r:id="Rd84e886b72fb4ada"/>
    <p:sldLayoutId xmlns:r="http://schemas.openxmlformats.org/officeDocument/2006/relationships" id="2147483652" r:id="R59e778abcb474fe2"/>
    <p:sldLayoutId xmlns:r="http://schemas.openxmlformats.org/officeDocument/2006/relationships" id="2147483653" r:id="R915bb6de4bc4403f"/>
    <p:sldLayoutId xmlns:r="http://schemas.openxmlformats.org/officeDocument/2006/relationships" id="2147483654" r:id="R759da10abacc44ba"/>
    <p:sldLayoutId xmlns:r="http://schemas.openxmlformats.org/officeDocument/2006/relationships" id="2147483655" r:id="R10747926a28343bc"/>
    <p:sldLayoutId xmlns:r="http://schemas.openxmlformats.org/officeDocument/2006/relationships" id="2147483656" r:id="R563144bf2b474e26"/>
    <p:sldLayoutId xmlns:r="http://schemas.openxmlformats.org/officeDocument/2006/relationships" id="2147483657" r:id="Rb9c8e4db9ae9481c"/>
    <p:sldLayoutId xmlns:r="http://schemas.openxmlformats.org/officeDocument/2006/relationships" id="2147483658" r:id="Rdccde551e0254f24"/>
    <p:sldLayoutId xmlns:r="http://schemas.openxmlformats.org/officeDocument/2006/relationships" id="2147483659" r:id="R8e2671590d164ae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6c3e49bcef434a" /><Relationship Type="http://schemas.openxmlformats.org/officeDocument/2006/relationships/notesSlide" Target="/ppt/notesSlides/notesSlide1.xml" Id="Rfd9365ca03c140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172a12e65774f5b" /><Relationship Type="http://schemas.openxmlformats.org/officeDocument/2006/relationships/notesSlide" Target="/ppt/notesSlides/notesSlide2.xml" Id="R67c41447651549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359b57a5b34c3f" /><Relationship Type="http://schemas.openxmlformats.org/officeDocument/2006/relationships/notesSlide" Target="/ppt/notesSlides/notesSlide3.xml" Id="R077f940ef2a641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67446961b7a4b52" /><Relationship Type="http://schemas.openxmlformats.org/officeDocument/2006/relationships/notesSlide" Target="/ppt/notesSlides/notesSlide4.xml" Id="Rf056a0450fe142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1949b1421f492a" /><Relationship Type="http://schemas.openxmlformats.org/officeDocument/2006/relationships/image" Target="/ppt/media/image.png" Id="R1a41dfb6453c49cd" /><Relationship Type="http://schemas.openxmlformats.org/officeDocument/2006/relationships/notesSlide" Target="/ppt/notesSlides/notesSlide5.xml" Id="R375263f3612a4e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68a9f168434946" /><Relationship Type="http://schemas.openxmlformats.org/officeDocument/2006/relationships/image" Target="/ppt/media/image2.png" Id="R0923a65240294b39" /><Relationship Type="http://schemas.openxmlformats.org/officeDocument/2006/relationships/notesSlide" Target="/ppt/notesSlides/notesSlide6.xml" Id="Rd2dbab7d9c90490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98DDBFC-B7D6-4F0B-896B-BBDE12CA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76C945E-BEF3-4E9D-B966-0C594095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389888"/>
            <a:ext cx="1051560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FA7FF6D-B717-4AD5-8FE9-86B91474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6420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BIAS–VARIANCE LAB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09C2D30-8A49-4E0C-90CC-E4C49F50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29968"/>
            <a:ext cx="10241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Bias² และ Variance</a:t>
            </a:r>
            <a:br/>
            <a:r>
              <a:rPr sz="3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ผ่านภาพและการจำลอง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F28CD96-6877-4458-9A09-71CD6F59B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56432"/>
            <a:ext cx="96926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ทำไมโมเดลที่ซับซ้อนกว่า ไม่ได้แปลว่าดีกว่าเสมอ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8DD345-E6B1-4883-9428-E3D24316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749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sin(πx)  •  x²  •  Learning Curves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3D43C7-1560-4A75-B9CF-D5BCCD60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77840"/>
            <a:ext cx="7772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รายงานผลการทดลอง  |  Machine Learning — Week 3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A54C05D-1B44-463E-91CD-A871DA83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4617720"/>
            <a:ext cx="22860" cy="1353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219ECA5-09B0-4DEB-8A3A-F62B0887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4645152"/>
            <a:ext cx="3474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ผู้จัดทำ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7F37701-77A1-4D19-8A97-BDFBE009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4956048"/>
            <a:ext cx="37947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นายสุภมงคล ชอบรัมย์</a:t>
            </a:r>
            <a:br/>
            <a:r>
              <a:rPr sz="10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นายชินวัตร กิตต๊ะ</a:t>
            </a:r>
            <a:br/>
            <a:r>
              <a:rPr sz="10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นายกฤตชัย พรายศรี</a:t>
            </a:r>
          </a:p>
        </p:txBody>
      </p:sp>
    </p:spTree>
    <p:extLst>
      <p:ext uri="{BB962C8B-B14F-4D97-AF65-F5344CB8AC3E}">
        <p14:creationId xmlns:p14="http://schemas.microsoft.com/office/powerpoint/2010/main" val="5812831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3154CDE-5C31-42AF-9CE8-0545A533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0E7E08E-6D23-4D4C-943E-062ED07B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8BAB33-933B-4E79-835D-D9C8A4E4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3152"/>
            <a:ext cx="5303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  บทนำ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BE709CB-0CCB-43E2-B3A8-18BBE7B8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30352"/>
            <a:ext cx="109728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212529"/>
                </a:solidFill>
                <a:latin typeface="Arial"/>
                <a:ea typeface="Arial"/>
                <a:cs typeface="Arial"/>
              </a:rPr>
              <a:t>อ่านผลอย่างไร: Bias–Variance Decomposition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15ABE15-1E14-4725-BE7B-5B915796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87552"/>
            <a:ext cx="786384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282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8126141-B0C0-4E1C-B5A8-F4002C8F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108356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6DBF50D-BB70-42F2-90DF-C0FB5719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36192"/>
            <a:ext cx="10469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212529"/>
                </a:solidFill>
                <a:latin typeface="Arial"/>
                <a:ea typeface="Arial"/>
                <a:cs typeface="Arial"/>
              </a:rPr>
              <a:t>E_out  =  Bias²  +  Variance  +  Noise²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AD55780-12DE-4216-B06E-F01E621B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32004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12529"/>
                </a:solidFill>
                <a:latin typeface="Arial"/>
                <a:ea typeface="Arial"/>
                <a:cs typeface="Arial"/>
              </a:rPr>
              <a:t>นิยามสำคัญ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9890711-911F-422A-8C7B-8565B6CC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4640"/>
            <a:ext cx="3401568" cy="208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4864">
            <a:solidFill>
              <a:srgbClr val="DEE2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4C48A76-7484-4654-B61B-194BE656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2834640"/>
            <a:ext cx="3401568" cy="208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4864">
            <a:solidFill>
              <a:srgbClr val="DEE2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5479A21-9555-4C12-82D8-A4371446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864" y="2834640"/>
            <a:ext cx="3456432" cy="208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4864">
            <a:solidFill>
              <a:srgbClr val="DEE2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EAFD536-E937-4D11-A526-74269CAB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0"/>
            <a:ext cx="54864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11ACC7C-8A0F-4560-A62A-2EB604AA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44368"/>
            <a:ext cx="3154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2D6A4F"/>
                </a:solidFill>
                <a:latin typeface="Arial"/>
                <a:ea typeface="Arial"/>
                <a:cs typeface="Arial"/>
              </a:rPr>
              <a:t>Bias²  |  ความเอนเอียง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07C30B3-E631-4556-900C-F7072D1F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0128"/>
            <a:ext cx="297180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212529"/>
                </a:solidFill>
                <a:latin typeface="Arial"/>
                <a:ea typeface="Arial"/>
                <a:cs typeface="Arial"/>
              </a:rPr>
              <a:t>โมเดลเฉลี่ยห่างจาก</a:t>
            </a:r>
            <a:br/>
            <a:r>
              <a:rPr sz="1500" b="0">
                <a:solidFill>
                  <a:srgbClr val="212529"/>
                </a:solidFill>
                <a:latin typeface="Arial"/>
                <a:ea typeface="Arial"/>
                <a:cs typeface="Arial"/>
              </a:rPr>
              <a:t>ฟังก์ชันเป้าหมายแค่ไหน</a:t>
            </a:r>
            <a:br/>
            <a:br/>
            <a:r>
              <a:rPr sz="1500" b="0">
                <a:solidFill>
                  <a:srgbClr val="212529"/>
                </a:solidFill>
                <a:latin typeface="Arial"/>
                <a:ea typeface="Arial"/>
                <a:cs typeface="Arial"/>
              </a:rPr>
              <a:t>สูง = โมเดลเรียบเกินไป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1188D1C-292A-47FB-98D6-DF31F924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2926080"/>
            <a:ext cx="54864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7F0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56DAA34-3887-4FB8-848A-F5105CDD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944368"/>
            <a:ext cx="3154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F77F00"/>
                </a:solidFill>
                <a:latin typeface="Arial"/>
                <a:ea typeface="Arial"/>
                <a:cs typeface="Arial"/>
              </a:rPr>
              <a:t>Variance  |  ความแปรปรวน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7E47B0E-8954-4A1A-98D8-2E2BB37D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310128"/>
            <a:ext cx="297180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212529"/>
                </a:solidFill>
                <a:latin typeface="Arial"/>
                <a:ea typeface="Arial"/>
                <a:cs typeface="Arial"/>
              </a:rPr>
              <a:t>โมเดลแกว่งมากแค่ไหน</a:t>
            </a:r>
            <a:br/>
            <a:r>
              <a:rPr sz="1500" b="0">
                <a:solidFill>
                  <a:srgbClr val="212529"/>
                </a:solidFill>
                <a:latin typeface="Arial"/>
                <a:ea typeface="Arial"/>
                <a:cs typeface="Arial"/>
              </a:rPr>
              <a:t>เมื่อเปลี่ยนชุดข้อมูลฝึก</a:t>
            </a:r>
            <a:br/>
            <a:br/>
            <a:r>
              <a:rPr sz="1500" b="0">
                <a:solidFill>
                  <a:srgbClr val="212529"/>
                </a:solidFill>
                <a:latin typeface="Arial"/>
                <a:ea typeface="Arial"/>
                <a:cs typeface="Arial"/>
              </a:rPr>
              <a:t>สูง = ไวต่อข้อมูลมาก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0867AE-4B50-4345-AB48-B4E36D5E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864" y="2926080"/>
            <a:ext cx="54864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282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0B7A918-1A94-4458-963F-909361C5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944368"/>
            <a:ext cx="2971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D62828"/>
                </a:solidFill>
                <a:latin typeface="Arial"/>
                <a:ea typeface="Arial"/>
                <a:cs typeface="Arial"/>
              </a:rPr>
              <a:t>Noise²  |  สัญญาณรบกวน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6659A91-1E67-4FF9-AB2D-88B6941B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310128"/>
            <a:ext cx="283464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212529"/>
                </a:solidFill>
                <a:latin typeface="Arial"/>
                <a:ea typeface="Arial"/>
                <a:cs typeface="Arial"/>
              </a:rPr>
              <a:t>ความคลาดเคลื่อนที่ลดไม่ได้</a:t>
            </a:r>
            <a:br/>
            <a:r>
              <a:rPr sz="1500" b="0">
                <a:solidFill>
                  <a:srgbClr val="212529"/>
                </a:solidFill>
                <a:latin typeface="Arial"/>
                <a:ea typeface="Arial"/>
                <a:cs typeface="Arial"/>
              </a:rPr>
              <a:t>จากข้อมูลที่มี noise</a:t>
            </a:r>
            <a:br/>
            <a:br/>
            <a:r>
              <a:rPr sz="1500" b="0">
                <a:solidFill>
                  <a:srgbClr val="212529"/>
                </a:solidFill>
                <a:latin typeface="Arial"/>
                <a:ea typeface="Arial"/>
                <a:cs typeface="Arial"/>
              </a:rPr>
              <a:t>σ เพิ่ม → Eout สูงขึ้น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5A7E45D6-7975-4549-A45A-6717BAB6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230368"/>
            <a:ext cx="973836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5A65EE7-FB7B-4DDD-8E04-3B891B07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413248"/>
            <a:ext cx="9235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ประเด็นสำคัญ: เป้าหมายคือ Eout ต่ำ ไม่ใช่แค่ Ein ต่ำบนชุดฝึก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02876459-7C60-44E9-8602-35DBB43D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82512"/>
            <a:ext cx="11045952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2E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3734EEF-AAFC-4A17-93D6-1A045F05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6217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6C757D"/>
                </a:solidFill>
                <a:latin typeface="Arial"/>
                <a:ea typeface="Arial"/>
                <a:cs typeface="Arial"/>
              </a:rPr>
              <a:t>Machine Learning — Week 3  |  Bias-Variance Lab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590A3D6-3480-467A-BF81-426ADF59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55664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1">
                <a:solidFill>
                  <a:srgbClr val="6C757D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7443491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ACF0090-9F17-47F1-8A5F-93D4621C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D9F8781-C108-4A0E-951C-DDBA2032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0111722-7D4C-4714-993C-3A5BEF90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3152"/>
            <a:ext cx="5303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  ผลลัพธ์ Bias-Variance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75B6772-15BD-423C-8215-84BF7684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30352"/>
            <a:ext cx="109728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212529"/>
                </a:solidFill>
                <a:latin typeface="Arial"/>
                <a:ea typeface="Arial"/>
                <a:cs typeface="Arial"/>
              </a:rPr>
              <a:t>ผลลัพธ์เมื่อเป้าหมายคือ sin(πx)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42E649-062E-4FDA-B5E7-CE1DB6EC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87552"/>
            <a:ext cx="786384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282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C8E449-0C4E-4DCF-9B74-534B98DB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43000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0">
                <a:solidFill>
                  <a:srgbClr val="6C757D"/>
                </a:solidFill>
                <a:latin typeface="Arial"/>
                <a:ea typeface="Arial"/>
                <a:cs typeface="Arial"/>
              </a:rPr>
              <a:t>ค่าเฉลี่ยจากชุดข้อมูลฝึก n = 2 จำนวน 50,000 ชุด | Analytical ใช้ numerical integration</a:t>
            </a:r>
          </a:p>
        </p:txBody>
      </p:sp>
      <p:graphicFrame>
        <p:nvGraphicFramePr>
          <p:cNvPr id="20" name="Table 7"/>
          <p:cNvGraphicFramePr/>
          <p:nvPr/>
        </p:nvGraphicFramePr>
        <p:xfrm>
          <a:off xmlns:a="http://schemas.openxmlformats.org/drawingml/2006/main" x="566928" y="1444752"/>
          <a:ext xmlns:a="http://schemas.openxmlformats.org/drawingml/2006/main" cx="11045951" cy="2542032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874519"/>
                <a:gridCol w="1920240"/>
                <a:gridCol w="2240280"/>
                <a:gridCol w="2496312"/>
              </a:tblGrid>
              <a:tr h="6355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โมเดล</a:t>
                      </a:r>
                    </a:p>
                  </a:txBody>
                  <a:tcPr marL="54864" marR="54864" marT="18288" marB="18288" anchor="ctr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Bias² (ana)</a:t>
                      </a:r>
                    </a:p>
                  </a:txBody>
                  <a:tcPr marL="54864" marR="54864" marT="18288" marB="18288" anchor="ctr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Variance (ana)</a:t>
                      </a:r>
                    </a:p>
                  </a:txBody>
                  <a:tcPr marL="54864" marR="54864" marT="18288" marB="18288" anchor="ctr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Eout (ana)</a:t>
                      </a:r>
                    </a:p>
                  </a:txBody>
                  <a:tcPr marL="54864" marR="54864" marT="18288" marB="18288" anchor="ctr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Eout (sim)</a:t>
                      </a:r>
                    </a:p>
                  </a:txBody>
                  <a:tcPr marL="54864" marR="54864" marT="18288" marB="18288" anchor="ctr">
                    <a:solidFill>
                      <a:srgbClr val="2D6A4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Constant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0.5000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0.2500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0.7500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0.7483</a:t>
                      </a:r>
                    </a:p>
                  </a:txBody>
                  <a:tcPr marL="54864" marR="54864" marT="18288" marB="18288" anchor="ctr">
                    <a:solidFill>
                      <a:srgbClr val="EDF7E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Linear</a:t>
                      </a:r>
                    </a:p>
                  </a:txBody>
                  <a:tcPr marL="54864" marR="54864" marT="18288" marB="1828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0.2067</a:t>
                      </a:r>
                    </a:p>
                  </a:txBody>
                  <a:tcPr marL="54864" marR="54864" marT="18288" marB="1828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1.6763</a:t>
                      </a:r>
                    </a:p>
                  </a:txBody>
                  <a:tcPr marL="54864" marR="54864" marT="18288" marB="1828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1.8830</a:t>
                      </a:r>
                    </a:p>
                  </a:txBody>
                  <a:tcPr marL="54864" marR="54864" marT="18288" marB="1828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1.8835</a:t>
                      </a:r>
                    </a:p>
                  </a:txBody>
                  <a:tcPr marL="54864" marR="54864" marT="18288" marB="18288" anchor="ctr">
                    <a:solidFill>
                      <a:srgbClr val="EDF7E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  <a:ea typeface="Arial"/>
                          <a:cs typeface="Arial"/>
                        </a:rPr>
                        <a:t>Linear ผ่านจุดกำเนิด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  <a:ea typeface="Arial"/>
                          <a:cs typeface="Arial"/>
                        </a:rPr>
                        <a:t>0.2706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  <a:ea typeface="Arial"/>
                          <a:cs typeface="Arial"/>
                        </a:rPr>
                        <a:t>0.2366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  <a:ea typeface="Arial"/>
                          <a:cs typeface="Arial"/>
                        </a:rPr>
                        <a:t>0.5072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  <a:ea typeface="Arial"/>
                          <a:cs typeface="Arial"/>
                        </a:rPr>
                        <a:t>0.5135</a:t>
                      </a:r>
                    </a:p>
                  </a:txBody>
                  <a:tcPr marL="54864" marR="54864" marT="18288" marB="18288" anchor="ctr">
                    <a:solidFill>
                      <a:srgbClr val="DFF2E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006923E-12CF-48CE-A1FF-E5F9B4E8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041648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12529"/>
                </a:solidFill>
                <a:latin typeface="Arial"/>
                <a:ea typeface="Arial"/>
                <a:cs typeface="Arial"/>
              </a:rPr>
              <a:t>ข้อสังเกต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B564E25-6533-4350-95A3-F7EFA7E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407408"/>
            <a:ext cx="54864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282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F25D56B-E7D4-4FB2-A11E-5FBE73D5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16552"/>
            <a:ext cx="1056132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212529"/>
                </a:solidFill>
                <a:latin typeface="Arial"/>
                <a:ea typeface="Arial"/>
                <a:cs typeface="Arial"/>
              </a:rPr>
              <a:t>Linear มี Bias² ต่ำ  แต่ Variance สูงมาก    Eout (sim) ต่ำสุดอยู่ที่  Linear ผ่านจุดกำเนิด ≈ 0.51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00C0BA5-5610-4876-B3C2-5A7F1FED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733288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6C757D"/>
                </a:solidFill>
                <a:latin typeface="Arial"/>
                <a:ea typeface="Arial"/>
                <a:cs typeface="Arial"/>
              </a:rPr>
              <a:t>Analytical: numerical integration  |  Simulation: 50,000 ชุดข้อมูล  |  สีเขียวอ่อน = Eout (sim) ต่ำสุด</a:t>
            </a:r>
          </a:p>
        </p:txBody>
      </p:sp>
    </p:spTree>
    <p:extLst>
      <p:ext uri="{BB962C8B-B14F-4D97-AF65-F5344CB8AC3E}">
        <p14:creationId xmlns:p14="http://schemas.microsoft.com/office/powerpoint/2010/main" val="213584057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5AE6531-77D4-410A-ACE6-C3624B77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5FC523C-5D7D-460B-96BA-C7D3F124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A3210A7-3D5C-472A-98FC-70FFAE8C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3152"/>
            <a:ext cx="5303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  ผลลัพธ์ Bias-Variance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FB23620-A7E8-4562-85DE-42B5604D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30352"/>
            <a:ext cx="109728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212529"/>
                </a:solidFill>
                <a:latin typeface="Arial"/>
                <a:ea typeface="Arial"/>
                <a:cs typeface="Arial"/>
              </a:rPr>
              <a:t>ผลลัพธ์เมื่อเป้าหมายคือ x²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E20ED23-CC6C-4E9E-8E74-72860D8B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87552"/>
            <a:ext cx="786384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282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F435824-8808-4D98-96FF-0ECF9F16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43000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0">
                <a:solidFill>
                  <a:srgbClr val="6C757D"/>
                </a:solidFill>
                <a:latin typeface="Arial"/>
                <a:ea typeface="Arial"/>
                <a:cs typeface="Arial"/>
              </a:rPr>
              <a:t>ค่าเฉลี่ยจากชุดข้อมูลฝึก n = 2 จำนวน 50,000 ชุด | Analytical ใช้ numerical integration</a:t>
            </a:r>
          </a:p>
        </p:txBody>
      </p:sp>
      <p:graphicFrame>
        <p:nvGraphicFramePr>
          <p:cNvPr id="20" name="Table 7"/>
          <p:cNvGraphicFramePr/>
          <p:nvPr/>
        </p:nvGraphicFramePr>
        <p:xfrm>
          <a:off xmlns:a="http://schemas.openxmlformats.org/drawingml/2006/main" x="566928" y="1444752"/>
          <a:ext xmlns:a="http://schemas.openxmlformats.org/drawingml/2006/main" cx="11045951" cy="2542032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874519"/>
                <a:gridCol w="1920240"/>
                <a:gridCol w="2240280"/>
                <a:gridCol w="2496312"/>
              </a:tblGrid>
              <a:tr h="6355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โมเดล</a:t>
                      </a:r>
                    </a:p>
                  </a:txBody>
                  <a:tcPr marL="54864" marR="54864" marT="18288" marB="18288" anchor="ctr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Bias² (ana)</a:t>
                      </a:r>
                    </a:p>
                  </a:txBody>
                  <a:tcPr marL="54864" marR="54864" marT="18288" marB="18288" anchor="ctr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Variance (ana)</a:t>
                      </a:r>
                    </a:p>
                  </a:txBody>
                  <a:tcPr marL="54864" marR="54864" marT="18288" marB="18288" anchor="ctr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Eout (ana)</a:t>
                      </a:r>
                    </a:p>
                  </a:txBody>
                  <a:tcPr marL="54864" marR="54864" marT="18288" marB="18288" anchor="ctr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Eout (sim)</a:t>
                      </a:r>
                    </a:p>
                  </a:txBody>
                  <a:tcPr marL="54864" marR="54864" marT="18288" marB="18288" anchor="ctr">
                    <a:solidFill>
                      <a:srgbClr val="2D6A4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  <a:ea typeface="Arial"/>
                          <a:cs typeface="Arial"/>
                        </a:rPr>
                        <a:t>Constant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  <a:ea typeface="Arial"/>
                          <a:cs typeface="Arial"/>
                        </a:rPr>
                        <a:t>0.0889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  <a:ea typeface="Arial"/>
                          <a:cs typeface="Arial"/>
                        </a:rPr>
                        <a:t>0.0444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  <a:ea typeface="Arial"/>
                          <a:cs typeface="Arial"/>
                        </a:rPr>
                        <a:t>0.1333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  <a:ea typeface="Arial"/>
                          <a:cs typeface="Arial"/>
                        </a:rPr>
                        <a:t>0.1346</a:t>
                      </a:r>
                    </a:p>
                  </a:txBody>
                  <a:tcPr marL="54864" marR="54864" marT="18288" marB="18288" anchor="ctr">
                    <a:solidFill>
                      <a:srgbClr val="DFF2E3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Linear</a:t>
                      </a:r>
                    </a:p>
                  </a:txBody>
                  <a:tcPr marL="54864" marR="54864" marT="18288" marB="1828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0.2000</a:t>
                      </a:r>
                    </a:p>
                  </a:txBody>
                  <a:tcPr marL="54864" marR="54864" marT="18288" marB="1828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0.3333</a:t>
                      </a:r>
                    </a:p>
                  </a:txBody>
                  <a:tcPr marL="54864" marR="54864" marT="18288" marB="1828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0.5333</a:t>
                      </a:r>
                    </a:p>
                  </a:txBody>
                  <a:tcPr marL="54864" marR="54864" marT="18288" marB="1828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0.5342</a:t>
                      </a:r>
                    </a:p>
                  </a:txBody>
                  <a:tcPr marL="54864" marR="54864" marT="18288" marB="18288" anchor="ctr">
                    <a:solidFill>
                      <a:srgbClr val="EDF7E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Linear ผ่านจุดกำเนิด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0.2000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0.1149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0.3149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  <a:ea typeface="Arial"/>
                          <a:cs typeface="Arial"/>
                        </a:rPr>
                        <a:t>0.3185</a:t>
                      </a:r>
                    </a:p>
                  </a:txBody>
                  <a:tcPr marL="54864" marR="54864" marT="18288" marB="18288" anchor="ctr">
                    <a:solidFill>
                      <a:srgbClr val="EDF7E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59F4D64-9393-4C2E-A5B6-4D0BCF99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041648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212529"/>
                </a:solidFill>
                <a:latin typeface="Arial"/>
                <a:ea typeface="Arial"/>
                <a:cs typeface="Arial"/>
              </a:rPr>
              <a:t>ข้อสังเกต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C3165ED-8444-4A68-BA33-284018E4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407408"/>
            <a:ext cx="54864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282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5D433B-F817-4407-B121-C083FE28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16552"/>
            <a:ext cx="1056132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212529"/>
                </a:solidFill>
                <a:latin typeface="Arial"/>
                <a:ea typeface="Arial"/>
                <a:cs typeface="Arial"/>
              </a:rPr>
              <a:t>Constant ชนะอย่างชัดเจน  เพราะ x² สมมาตร    ความซับซ้อนเพิ่มขึ้น  ไม่ได้ช่วยให้ Eout ต่ำลง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685F292-37EE-4C13-83B9-B5A735AA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733288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6C757D"/>
                </a:solidFill>
                <a:latin typeface="Arial"/>
                <a:ea typeface="Arial"/>
                <a:cs typeface="Arial"/>
              </a:rPr>
              <a:t>Analytical: numerical integration  |  Simulation: 50,000 ชุดข้อมูล  |  สีเขียวอ่อน = Eout (sim) ต่ำสุด</a:t>
            </a:r>
          </a:p>
        </p:txBody>
      </p:sp>
    </p:spTree>
    <p:extLst>
      <p:ext uri="{BB962C8B-B14F-4D97-AF65-F5344CB8AC3E}">
        <p14:creationId xmlns:p14="http://schemas.microsoft.com/office/powerpoint/2010/main" val="177284802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A012BFF-E048-43E0-9350-2D6DA4A6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96AA5C6-67DC-4EA2-81A9-94E705EC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F5B67A8-ABEA-499A-8466-76589B97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3152"/>
            <a:ext cx="5303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  ภาพประกอบ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2849BCD-00E4-4C55-9B2F-397A0F59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30352"/>
            <a:ext cx="109728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212529"/>
                </a:solidFill>
                <a:latin typeface="Arial"/>
                <a:ea typeface="Arial"/>
                <a:cs typeface="Arial"/>
              </a:rPr>
              <a:t>ภาพรวม: โมเดลเฉลี่ยและความแกว่ง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922872-3A1C-4E88-83B1-49112CF5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87552"/>
            <a:ext cx="786384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282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41dfb6453c49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03616" y="1170432"/>
            <a:ext cx="9172575" cy="4892040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F69AA4A-7D0E-411D-BDA5-3F55487B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44768"/>
            <a:ext cx="10881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>
                <a:solidFill>
                  <a:srgbClr val="6C757D"/>
                </a:solidFill>
                <a:latin typeface="Arial"/>
                <a:ea typeface="Arial"/>
                <a:cs typeface="Arial"/>
              </a:rPr>
              <a:t>เส้นเขียว = เป้าหมายจริง  |  เส้นประแดง = โมเดลเฉลี่ย  |  แถบแดง = ±1 std  |  เส้นเทา = ตัวอย่างโมเดลจากชุดข้อมูลต่างกัน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03F40FB-12B8-4A94-8EB6-AB8D742B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82512"/>
            <a:ext cx="11045952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2E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E0EF490-2CF6-4B28-828E-A92EA143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6217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6C757D"/>
                </a:solidFill>
                <a:latin typeface="Arial"/>
                <a:ea typeface="Arial"/>
                <a:cs typeface="Arial"/>
              </a:rPr>
              <a:t>Machine Learning — Week 3  |  Bias-Variance Lab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6240B7-2D42-4D96-8143-4EE36FDE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55664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1">
                <a:solidFill>
                  <a:srgbClr val="6C757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4383506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AE5DA2F-FB7B-401D-BDD1-B7E01EA7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D970A84-ED7C-497C-B5E2-CA966EB9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F3A4556-C086-4D01-B5D1-36264997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3152"/>
            <a:ext cx="5303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  ภาพประกอบ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B3651E7-70AE-44F0-BDEB-A2D45454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30352"/>
            <a:ext cx="109728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212529"/>
                </a:solidFill>
                <a:latin typeface="Arial"/>
                <a:ea typeface="Arial"/>
                <a:cs typeface="Arial"/>
              </a:rPr>
              <a:t>Learning Curve: เมื่อเพิ่มจำนวนข้อมูล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9EE9AEF-2AE2-462D-B4DE-7981E512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87552"/>
            <a:ext cx="786384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282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23a65240294b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03616" y="1170432"/>
            <a:ext cx="9172575" cy="4892040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68C1567-C27D-401C-A5CF-7AC5CCF2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44768"/>
            <a:ext cx="10881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>
                <a:solidFill>
                  <a:srgbClr val="6C757D"/>
                </a:solidFill>
                <a:latin typeface="Arial"/>
                <a:ea typeface="Arial"/>
                <a:cs typeface="Arial"/>
              </a:rPr>
              <a:t>เส้นประ = Ein  |  เส้นทึบ = Eout  |  น้ำเงิน = σ 0.0  |  เขียว = σ 0.1  |  ส้ม = σ 0.3  |  อ่านแนวโน้มเมื่อ n เพิ่มขึ้น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A0D25C4-C899-4E31-8577-6B3B02F3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82512"/>
            <a:ext cx="11045952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2E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D3AC1BD-0233-4DB8-8D6F-015FC4BB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73952"/>
            <a:ext cx="6217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6C757D"/>
                </a:solidFill>
                <a:latin typeface="Arial"/>
                <a:ea typeface="Arial"/>
                <a:cs typeface="Arial"/>
              </a:rPr>
              <a:t>Machine Learning — Week 3  |  Bias-Variance Lab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30A7673-A71B-4D57-AA0C-6C2C9508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55664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1">
                <a:solidFill>
                  <a:srgbClr val="6C757D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3214465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2026-07-22T15:51:04.9640000Z</dcterms:created>
  <dcterms:modified xsi:type="dcterms:W3CDTF">2026-07-22T15:51:04.9640000Z</dcterms:modified>
</coreProperties>
</file>