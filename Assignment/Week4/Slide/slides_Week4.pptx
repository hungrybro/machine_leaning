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2217671cfa4256" /><Relationship Type="http://schemas.openxmlformats.org/officeDocument/2006/relationships/extended-properties" Target="/docProps/app.xml" Id="Re44e8db84f0b48c9" /><Relationship Type="http://schemas.openxmlformats.org/officeDocument/2006/relationships/officeDocument" Target="/ppt/presentation.xml" Id="R18974115b8a940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15ceeb1604ed0"/>
  </p:sldMasterIdLst>
  <p:notesMasterIdLst>
    <p:notesMasterId xmlns:r="http://schemas.openxmlformats.org/officeDocument/2006/relationships" r:id="R88ed64bb87214a86"/>
  </p:notesMasterIdLst>
  <p:sldIdLst>
    <p:sldId xmlns:r="http://schemas.openxmlformats.org/officeDocument/2006/relationships" id="256" r:id="R2f5a7bd21ee94bd3"/>
    <p:sldId xmlns:r="http://schemas.openxmlformats.org/officeDocument/2006/relationships" id="257" r:id="R3ae5aec8b7ce45af"/>
    <p:sldId xmlns:r="http://schemas.openxmlformats.org/officeDocument/2006/relationships" id="258" r:id="R1f4f0ba78ac44f1a"/>
    <p:sldId xmlns:r="http://schemas.openxmlformats.org/officeDocument/2006/relationships" id="259" r:id="Rd16db6c5241947b1"/>
    <p:sldId xmlns:r="http://schemas.openxmlformats.org/officeDocument/2006/relationships" id="260" r:id="Rdb0abdfbacf94bcb"/>
    <p:sldId xmlns:r="http://schemas.openxmlformats.org/officeDocument/2006/relationships" id="261" r:id="R65274b22158a4886"/>
    <p:sldId xmlns:r="http://schemas.openxmlformats.org/officeDocument/2006/relationships" id="262" r:id="R12d7f7675f2649d5"/>
    <p:sldId xmlns:r="http://schemas.openxmlformats.org/officeDocument/2006/relationships" id="263" r:id="R0dee75ea7f8e4960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7eb6e034844b11" /><Relationship Type="http://schemas.openxmlformats.org/officeDocument/2006/relationships/slideMaster" Target="/ppt/slideMasters/slideMaster1.xml" Id="Rd5e15ceeb1604ed0" /><Relationship Type="http://schemas.openxmlformats.org/officeDocument/2006/relationships/notesMaster" Target="/ppt/notesMasters/notesMaster1.xml" Id="R88ed64bb87214a86" /><Relationship Type="http://schemas.openxmlformats.org/officeDocument/2006/relationships/presProps" Target="/ppt/presProps.xml" Id="Rcb57e0c8db864071" /><Relationship Type="http://schemas.openxmlformats.org/officeDocument/2006/relationships/viewProps" Target="/ppt/viewProps.xml" Id="R8e097e1344474893" /><Relationship Type="http://schemas.openxmlformats.org/officeDocument/2006/relationships/tableStyles" Target="/ppt/tableStyles.xml" Id="R4058226d8089444e" /><Relationship Type="http://schemas.openxmlformats.org/officeDocument/2006/relationships/slide" Target="/ppt/slides/slide1.xml" Id="R2f5a7bd21ee94bd3" /><Relationship Type="http://schemas.openxmlformats.org/officeDocument/2006/relationships/slide" Target="/ppt/slides/slide2.xml" Id="R3ae5aec8b7ce45af" /><Relationship Type="http://schemas.openxmlformats.org/officeDocument/2006/relationships/slide" Target="/ppt/slides/slide3.xml" Id="R1f4f0ba78ac44f1a" /><Relationship Type="http://schemas.openxmlformats.org/officeDocument/2006/relationships/slide" Target="/ppt/slides/slide4.xml" Id="Rd16db6c5241947b1" /><Relationship Type="http://schemas.openxmlformats.org/officeDocument/2006/relationships/slide" Target="/ppt/slides/slide5.xml" Id="Rdb0abdfbacf94bcb" /><Relationship Type="http://schemas.openxmlformats.org/officeDocument/2006/relationships/slide" Target="/ppt/slides/slide6.xml" Id="R65274b22158a4886" /><Relationship Type="http://schemas.openxmlformats.org/officeDocument/2006/relationships/slide" Target="/ppt/slides/slide7.xml" Id="R12d7f7675f2649d5" /><Relationship Type="http://schemas.openxmlformats.org/officeDocument/2006/relationships/slide" Target="/ppt/slides/slide8.xml" Id="R0dee75ea7f8e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87d1e39e96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336fa25914d03" /><Relationship Type="http://schemas.openxmlformats.org/officeDocument/2006/relationships/notesMaster" Target="/ppt/notesMasters/notesMaster1.xml" Id="R2f11ee981f86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f08a457ed547ac" /><Relationship Type="http://schemas.openxmlformats.org/officeDocument/2006/relationships/notesMaster" Target="/ppt/notesMasters/notesMaster1.xml" Id="R1218d89c0e5c42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07647c504c4bd2" /><Relationship Type="http://schemas.openxmlformats.org/officeDocument/2006/relationships/notesMaster" Target="/ppt/notesMasters/notesMaster1.xml" Id="R05794827643840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9cc7dbb7a41d4" /><Relationship Type="http://schemas.openxmlformats.org/officeDocument/2006/relationships/notesMaster" Target="/ppt/notesMasters/notesMaster1.xml" Id="Re9b0ca6c91514c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2802b3688648d2" /><Relationship Type="http://schemas.openxmlformats.org/officeDocument/2006/relationships/notesMaster" Target="/ppt/notesMasters/notesMaster1.xml" Id="Rb05776e1d203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eeed3ea5345b6" /><Relationship Type="http://schemas.openxmlformats.org/officeDocument/2006/relationships/notesMaster" Target="/ppt/notesMasters/notesMaster1.xml" Id="Rb4de01b4f78144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72aa2cfd1843e1" /><Relationship Type="http://schemas.openxmlformats.org/officeDocument/2006/relationships/notesMaster" Target="/ppt/notesMasters/notesMaster1.xml" Id="R5778366529c243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65e1f039904fb5" /><Relationship Type="http://schemas.openxmlformats.org/officeDocument/2006/relationships/notesMaster" Target="/ppt/notesMasters/notesMaster1.xml" Id="R3b02d71a2b6b43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8f0993114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a22ae783345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399339c2f44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3b534e3c4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0f370fdf240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dff4a2b2f4f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423485a0449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f840fd84c44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9f8719e5a47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e5304030947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55778b06e420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E5EABD-E8D7-4362-A109-9AA9EEE2489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3D42BE-ADD2-4122-A9A7-D0C3265ADD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3928FC-3C8F-4FC7-B415-8D40301B61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3D03F4-3892-4118-AE54-D5EC1FDA9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93AF4B-33A5-46D4-947E-906EC980E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331A23-0041-4AB6-A450-BE4874BD1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7C232E-4FFF-4C67-B77B-FF4D21BB4B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68A91-D61D-4A0C-A6E2-E1BF995964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BD4478-068D-4235-82F7-08919E78F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FF4EBC-2936-4285-8933-E372631BF4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AE53BC-8EFE-40E7-A1CD-F9B4ABEE8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FE7950-67D1-4777-A36E-D0675AFAA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0581AA-325D-400A-A60B-11897D39D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ABC3F9-0394-4619-BB13-F2A985792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0F05BE-6737-4785-A010-C4368B36C6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283092-F70B-4BC1-B65E-DE665CCEA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46FD00-8D28-423E-9409-F9D30F505A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50EA36-0740-4B09-B1EE-9D0518BE46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F360D5-D2E1-4EA5-BFDA-F8FC993DBD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8E1CCA-596C-4224-BEA8-5E9DF432E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ED16BF-6708-4F5E-84A6-6A14A6AF33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BA0A7A-7911-4683-B6B7-C1727C64FD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FACE60-0883-44AF-8F8C-2BEB5A783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4418389-3981-468E-8D24-3AE5860AE6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1F8F76B-D95E-46FF-8843-A25885D4558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FD6B653-D12C-4619-B1C1-57D1D04ED9B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F89045C-FA3A-4F2B-AF00-C98C225C74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9C79656-D0EB-4CCF-8EAA-AD1436CB24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990B503-D3BF-494E-8682-F842FDC3A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568DB6-5AA3-45C4-9ED6-87ED63004A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A34554A-AF82-40ED-B6B2-B5B33E3A93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B45B5E1-1BB8-4D94-960C-79C9824D00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F3421AC-066F-4A7A-ACAC-477356F2B0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0303C04-7F02-4333-9681-9FA20CF4F2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373B6C2-3734-4E15-B345-3291E9789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4CA823D-D4ED-4EA1-83FE-0BB5BA618B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86A771-1E54-4138-9302-EEF84F3D6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57B3EB-8359-4701-9BF2-59160135F1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DAD618-F203-47F8-88AF-D74D2F798F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7EE761-C928-4640-8F0F-12E862BF68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EDEDE9-805C-41DA-B84D-E421F7DAD5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136899-8BF7-48EA-90E9-E320DAB27A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96AD3-1BC5-4DF3-AA59-47195216A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A467E67-A4ED-4624-BBC7-74B7978493F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5DBF095-48EF-433E-BB97-109AFC1B5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F76B0A3-AF35-46BF-86CB-52857D5B68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23DE984-EDE7-4DC6-9867-6806E6ABE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110991-4092-4A4D-A7E3-E7A90EDBDA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3C5275-E1DA-4783-8D00-56F737FE2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0B1A54-B241-4AE7-8CAE-0D5E8A338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34D44A-9039-4EE6-BD05-4479BACC55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6D37E2-0E98-4D1D-AC00-710C8372FF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3C1FA4-5C04-4E8E-9F2B-C31A8DF28B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75A67E4-29A9-4495-A57A-F51AA71D4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F0D60A-11DD-413D-83C9-D8B72FD707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DD1F98-3120-44C7-83EB-62F42495CE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F23767-7751-4AFB-ACE2-D1EB7DA2A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67B3A9-A68D-414A-9537-0A152ACBF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51cc607ba40ce" /><Relationship Type="http://schemas.openxmlformats.org/officeDocument/2006/relationships/slideLayout" Target="/ppt/slideLayouts/slideLayout1.xml" Id="R426e5dcd1e1a40ed" /><Relationship Type="http://schemas.openxmlformats.org/officeDocument/2006/relationships/slideLayout" Target="/ppt/slideLayouts/slideLayout2.xml" Id="Rde390eeaf4444bae" /><Relationship Type="http://schemas.openxmlformats.org/officeDocument/2006/relationships/slideLayout" Target="/ppt/slideLayouts/slideLayout3.xml" Id="R86ab1f2e40234e7c" /><Relationship Type="http://schemas.openxmlformats.org/officeDocument/2006/relationships/slideLayout" Target="/ppt/slideLayouts/slideLayout4.xml" Id="R402a2dce3d784811" /><Relationship Type="http://schemas.openxmlformats.org/officeDocument/2006/relationships/slideLayout" Target="/ppt/slideLayouts/slideLayout5.xml" Id="R8e082b2472d44e8b" /><Relationship Type="http://schemas.openxmlformats.org/officeDocument/2006/relationships/slideLayout" Target="/ppt/slideLayouts/slideLayout6.xml" Id="Rbf3f214587244a57" /><Relationship Type="http://schemas.openxmlformats.org/officeDocument/2006/relationships/slideLayout" Target="/ppt/slideLayouts/slideLayout7.xml" Id="Racbef0e9b9934953" /><Relationship Type="http://schemas.openxmlformats.org/officeDocument/2006/relationships/slideLayout" Target="/ppt/slideLayouts/slideLayout8.xml" Id="R3cb304425cfc4e24" /><Relationship Type="http://schemas.openxmlformats.org/officeDocument/2006/relationships/slideLayout" Target="/ppt/slideLayouts/slideLayout9.xml" Id="Rab91f278c37b4bbf" /><Relationship Type="http://schemas.openxmlformats.org/officeDocument/2006/relationships/slideLayout" Target="/ppt/slideLayouts/slideLayout10.xml" Id="R3da727324b984319" /><Relationship Type="http://schemas.openxmlformats.org/officeDocument/2006/relationships/slideLayout" Target="/ppt/slideLayouts/slideLayout11.xml" Id="R06f000e7af7448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1C49E46-E594-4DA7-BEC0-F87C599BE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A817EA-5189-4111-BC16-E540B31BF8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E06ECF-54C7-4E99-ADF5-B6B67E61884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DFD44D-CBEA-4036-AB91-D97C599D03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F12803-5C7D-4EE0-9EB2-435ED17B22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e5dcd1e1a40ed"/>
    <p:sldLayoutId xmlns:r="http://schemas.openxmlformats.org/officeDocument/2006/relationships" id="2147483650" r:id="Rde390eeaf4444bae"/>
    <p:sldLayoutId xmlns:r="http://schemas.openxmlformats.org/officeDocument/2006/relationships" id="2147483651" r:id="R86ab1f2e40234e7c"/>
    <p:sldLayoutId xmlns:r="http://schemas.openxmlformats.org/officeDocument/2006/relationships" id="2147483652" r:id="R402a2dce3d784811"/>
    <p:sldLayoutId xmlns:r="http://schemas.openxmlformats.org/officeDocument/2006/relationships" id="2147483653" r:id="R8e082b2472d44e8b"/>
    <p:sldLayoutId xmlns:r="http://schemas.openxmlformats.org/officeDocument/2006/relationships" id="2147483654" r:id="Rbf3f214587244a57"/>
    <p:sldLayoutId xmlns:r="http://schemas.openxmlformats.org/officeDocument/2006/relationships" id="2147483655" r:id="Racbef0e9b9934953"/>
    <p:sldLayoutId xmlns:r="http://schemas.openxmlformats.org/officeDocument/2006/relationships" id="2147483656" r:id="R3cb304425cfc4e24"/>
    <p:sldLayoutId xmlns:r="http://schemas.openxmlformats.org/officeDocument/2006/relationships" id="2147483657" r:id="Rab91f278c37b4bbf"/>
    <p:sldLayoutId xmlns:r="http://schemas.openxmlformats.org/officeDocument/2006/relationships" id="2147483658" r:id="R3da727324b984319"/>
    <p:sldLayoutId xmlns:r="http://schemas.openxmlformats.org/officeDocument/2006/relationships" id="2147483659" r:id="R06f000e7af74480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34b5f608654a4c" /><Relationship Type="http://schemas.openxmlformats.org/officeDocument/2006/relationships/notesSlide" Target="/ppt/notesSlides/notesSlide1.xml" Id="R2402c5cbda03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df80a5bd4944f0" /><Relationship Type="http://schemas.openxmlformats.org/officeDocument/2006/relationships/notesSlide" Target="/ppt/notesSlides/notesSlide2.xml" Id="Rf101d16061c24d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8567da0e424d4e" /><Relationship Type="http://schemas.openxmlformats.org/officeDocument/2006/relationships/notesSlide" Target="/ppt/notesSlides/notesSlide3.xml" Id="Rfe0a5c1786774e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24be47ef8b427b" /><Relationship Type="http://schemas.openxmlformats.org/officeDocument/2006/relationships/notesSlide" Target="/ppt/notesSlides/notesSlide4.xml" Id="Rb260851108f6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5f812329d345ce" /><Relationship Type="http://schemas.openxmlformats.org/officeDocument/2006/relationships/image" Target="/ppt/media/image.png" Id="R8fb8f8d8f5c84480" /><Relationship Type="http://schemas.openxmlformats.org/officeDocument/2006/relationships/notesSlide" Target="/ppt/notesSlides/notesSlide5.xml" Id="R394a2d9cf6bd44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0fabea82fd4b76" /><Relationship Type="http://schemas.openxmlformats.org/officeDocument/2006/relationships/image" Target="/ppt/media/image2.png" Id="R59aaccd629c6442e" /><Relationship Type="http://schemas.openxmlformats.org/officeDocument/2006/relationships/notesSlide" Target="/ppt/notesSlides/notesSlide6.xml" Id="Rf64839d9ea4049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588d07245c4526" /><Relationship Type="http://schemas.openxmlformats.org/officeDocument/2006/relationships/image" Target="/ppt/media/image3.png" Id="R03eac79bb7b84cf0" /><Relationship Type="http://schemas.openxmlformats.org/officeDocument/2006/relationships/notesSlide" Target="/ppt/notesSlides/notesSlide7.xml" Id="R46cdf5393c1f42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936949d1884a43" /><Relationship Type="http://schemas.openxmlformats.org/officeDocument/2006/relationships/notesSlide" Target="/ppt/notesSlides/notesSlide8.xml" Id="R5026b88d886541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E30F4-DA55-4BBC-BD17-528BE24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E3AC54-F17E-4DD4-8294-03C5382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A8819C-8A97-4363-AAA8-D0F2E552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6420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EVALUATION LAB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49FBC9-0875-415E-B902-D9B023DE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29968"/>
            <a:ext cx="102412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ประเมินประสิทธิภาพโมเดล</a:t>
            </a:r>
            <a:br/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ด้วย Resubstitution, Holdout และ K-Fold CV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EDA3B6-3518-4B7A-933A-8E28F14D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93008"/>
            <a:ext cx="9875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ทำไมค่าความผิดพลาดที่วัดได้ จึงไม่เท่ากับ Eout จริงเสมอ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5F85F2-8E42-4442-AEB5-64A7C22A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2  •  Performance Estimation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39F758C-D580-4F3C-BB50-D3808A5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777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รายงานผลการทดลอง  |  Machine Learning — Week 4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6983B2-9542-4512-9B3A-80F785D6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617720"/>
            <a:ext cx="22860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C81DCAB-AEA8-4537-B5F1-212944E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645152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ผู้จัดทำ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488D51-3097-48F7-B6CF-5F338662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956048"/>
            <a:ext cx="3794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นายสุภมงคล ชอบรัมย์</a:t>
            </a:r>
            <a:br/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นายชินวัตร กิตต๊ะ</a:t>
            </a:r>
            <a:br/>
            <a:r>
              <a:rPr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นายกฤตชัย พรายศรี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8B86EB2-2743-46B9-83E4-D2B9D4AF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35754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74CDE5-405D-4679-B689-2D825AE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22769D-D27F-44EC-83DF-746A0014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7CE8433-A252-43D3-AA83-26BF4D5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Setup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265C45-FD8B-41FB-B63D-2A9876D1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โจทย์และการตั้งค่าการทดลอง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8023F2-D9B9-41E5-BB36-DB4943A0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BFE7BB-9428-4B87-BB0B-6E107D4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4983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เราจะประมาณ Eout ของโมเดล</a:t>
            </a:r>
            <a:br/>
            <a:r>
              <a:rPr sz="23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จากข้อมูลชุดเดียวได้อย่างไร?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A71BF2-F842-4278-988B-0FD02949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42032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เปรียบเทียบวิธีวัด error กับค่า true Eout ที่รู้จากการจำลอง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FB3DE63-7B3B-471F-A64B-74D0AD68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234440"/>
            <a:ext cx="26060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8057681-44F3-46B5-993E-CCB4E2B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2344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0BA045-04D2-4692-B745-B0DEBCF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80744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เป้าหมาย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9231C5C-846E-4244-9030-6B5195F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709928"/>
            <a:ext cx="22402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f(x) = sin(πx)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x ~ U(−1, 1)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0599B11-D029-4A95-8BA0-E625DFA1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234440"/>
            <a:ext cx="26060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F817828-F0A8-4A8F-9AA0-C9CDED01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23444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10D483-8F34-4DF9-8745-BB0C67AB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380744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77F00"/>
                </a:solidFill>
                <a:latin typeface="Arial"/>
                <a:ea typeface="Arial"/>
                <a:cs typeface="Arial"/>
              </a:rPr>
              <a:t>โมเดล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B8B24C0-56BA-428C-A72A-18E27AF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709928"/>
            <a:ext cx="22402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Constant</a:t>
            </a:r>
            <a:br/>
            <a:r>
              <a:rPr sz="17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Linear</a:t>
            </a:r>
            <a:br/>
            <a:r>
              <a:rPr sz="17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ผ่านจุดกำเนิด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CA43C87-0E2C-4B4C-B1C4-089F71D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971800"/>
            <a:ext cx="26060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BC1BD4-4EA6-415C-BB26-9DE4930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9718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0F15EC4-57E4-46B1-AFCB-B47F602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118104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ข้อมูล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B9C06B-7B16-4A80-8848-54B1950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447288"/>
            <a:ext cx="22402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n = 20</a:t>
            </a:r>
            <a:br/>
            <a:r>
              <a:rPr sz="19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σ = 0.3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2B1A2BE-FE01-498C-8FBD-01318B76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71800"/>
            <a:ext cx="26060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FB32CE7-6715-44FE-82D6-1AACD9D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71800"/>
            <a:ext cx="73152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98C5105-D39C-4852-8669-D706A407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118104"/>
            <a:ext cx="2240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การทดลอง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A95C26-7ACC-4147-B0D4-D05D437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447288"/>
            <a:ext cx="224028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2,000 ชุดข้อมูล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5-Fold CV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5E0BAAE-EAC5-47D9-965F-E5A6CA7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09160"/>
            <a:ext cx="541324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DDD7AA7-9F55-4191-B2A8-6A7F749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0916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800629-B8FB-4BB3-97A2-B6558914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855464"/>
            <a:ext cx="50474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ค่าอ้างอิง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8895FC4-B21C-4350-B70C-27520E1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184648"/>
            <a:ext cx="504748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true Eout คำนวณบน grid 4,000 จุด และบวก noise² เพื่อสะท้อนข้อมูลใหม่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63F3B3D-AD9B-4EFE-9BD9-DE01092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0CF0A72-9D0E-4B51-9EF2-7BF6D52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0B037E6-2CE6-42A2-AB26-CA49C27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82307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7D7C42-5F32-4190-BDB0-FFFDC9B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2BAD31-40E9-424B-9879-7E369F1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12B232-5AF0-41D0-B4EC-6308E58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วิธีวัดผล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6E0BD7-38DB-4C8C-9431-02306E3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สามวิธีประมาณความผิดพลาด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EB8D513-5753-4914-BD92-CBC7AC1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D641C1C-628C-412A-A708-9A02FEA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704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แต่ละวิธีใช้ข้อมูลไม่เหมือนกัน จึงมี bias และ variance ต่างกัน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71E32D-8C7E-439D-8647-C319B7AD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3401568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3F5BB-79F4-43D4-9715-0069C241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741431-AF2C-4E68-A843-218880F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37944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01  Resubstitution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05250A1-DC34-447C-84E5-85AB43A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67128"/>
            <a:ext cx="303580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ฝึกและทดสอบบนข้อมูลชุดเดียวกัน</a:t>
            </a:r>
            <a:br/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มักประเมิน error ต่ำเกินจริง</a:t>
            </a:r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เพราะโมเดลเคยเห็นข้อมูลแล้ว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5BBEE3-36B6-4DA4-916C-AB06F318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401568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9EE160-D008-4162-ADFA-D484F8B8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07D12C1-79A1-49C5-9070-3E324BA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837944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77F00"/>
                </a:solidFill>
                <a:latin typeface="Arial"/>
                <a:ea typeface="Arial"/>
                <a:cs typeface="Arial"/>
              </a:rPr>
              <a:t>02  Holdout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7ACC08-06C3-473B-A8F5-56CC0CBF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67128"/>
            <a:ext cx="303580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แบ่งข้อมูลเป็น train / test</a:t>
            </a:r>
            <a:br/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สะท้อนข้อมูลใหม่ได้ดีขึ้น</a:t>
            </a:r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แต่ผลขึ้นกับสัดส่วนที่แบ่ง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D7D674-3446-4048-B049-B21E7A1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691640"/>
            <a:ext cx="3401568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2D2EA41-700E-443C-9E13-4EC23F7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69164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66D53E-E023-4F0E-9E0C-465210D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37944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03  K-Fold CV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E890227-E674-4DC2-9FDF-861BF0F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67128"/>
            <a:ext cx="3035808" cy="1581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แบ่งเป็น k folds แล้วสลับ</a:t>
            </a:r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ชุด validation ให้ครบทุก fold</a:t>
            </a:r>
            <a:br/>
            <a:br/>
            <a:r>
              <a:rPr sz="16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ใช้ข้อมูลคุ้มกว่า holdout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8ACC7DC-4A28-4972-A078-2F4CD116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15968"/>
            <a:ext cx="1086307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DA4681-F84B-4791-8C13-0897AC63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9704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วัดคุณภาพตัวประมาณ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08970C4-A565-4FDF-9626-253A7F5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01498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Bias = E[estimate − true Eout]    |    Variance = Var(estimate)    |    MSE = E[(estimate − true Eout)²]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6C41E6C-557B-433C-A2FB-DBC274FC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F2B0579-C3B4-44C7-A762-38249C2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EAAC223-6CE6-4E6A-9158-7CFB263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1741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06A303-D81D-4912-A6F7-F650BD2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986F94-A841-4F2A-B8C3-CDFFA40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771B37-207D-4007-9462-90789545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Numerical Results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B5F63C-6042-4ED8-92DE-5913F96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ตัวเลขจากการทดลอง: เปรียบเทียบวิธีวัดผล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1887E1F-716B-4EFB-9836-597A612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7E24B9-68AB-45A1-ACE2-792A63D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43000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ผลจากข้อมูลชุดเดียวที่ n = 20 และ σ = 0.3 — ค่าทั้งหมดมาจากโค้ด Week4</a:t>
            </a:r>
          </a:p>
        </p:txBody>
      </p:sp>
      <p:graphicFrame>
        <p:nvGraphicFramePr>
          <p:cNvPr id="23" name="Table 7"/>
          <p:cNvGraphicFramePr/>
          <p:nvPr/>
        </p:nvGraphicFramePr>
        <p:xfrm>
          <a:off xmlns:a="http://schemas.openxmlformats.org/drawingml/2006/main" x="566928" y="1536192"/>
          <a:ext xmlns:a="http://schemas.openxmlformats.org/drawingml/2006/main" cx="11045952" cy="2148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2331720"/>
                <a:gridCol w="2057400"/>
                <a:gridCol w="2176272"/>
              </a:tblGrid>
              <a:tr h="5372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โมเดล</a:t>
                      </a:r>
                    </a:p>
                  </a:txBody>
                  <a:tcPr marL="54864" marR="54864" marT="18288" marB="18288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true Eout</a:t>
                      </a:r>
                    </a:p>
                  </a:txBody>
                  <a:tcPr marL="54864" marR="54864" marT="18288" marB="18288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Resubstitution</a:t>
                      </a:r>
                    </a:p>
                  </a:txBody>
                  <a:tcPr marL="54864" marR="54864" marT="18288" marB="18288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Holdout 70%</a:t>
                      </a:r>
                    </a:p>
                  </a:txBody>
                  <a:tcPr marL="54864" marR="54864" marT="18288" marB="18288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2D6A4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0.6565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0.4264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0.4739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0.4638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0.3003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0.1519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0.2215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0.1848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Linear ผ่านจุดกำเนิด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0.2868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0.1651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0.1128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</a:rPr>
                        <a:t>0.1962</a:t>
                      </a:r>
                    </a:p>
                  </a:txBody>
                  <a:tcPr marL="54864" marR="54864" marT="18288" marB="18288" anchor="ctr"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FB34C5-B6BF-43DE-BC70-A9C06C7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ข้อสังเกต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CEC1BB-C088-4454-B9DB-60B70F3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0832"/>
            <a:ext cx="5486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233F11-BA9F-47EC-AD1D-C2CA247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0561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Resubstitution มีแนวโน้มประเมิน error ต่ำกว่าค่า true Eout เพราะใช้ข้อมูลชุดฝึกเดิมในการทดสอบ</a:t>
            </a:r>
            <a:br/>
            <a:r>
              <a:rPr sz="15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ส่วน Holdout แปรผันตามการแบ่งข้อมูล และ K-Fold ใช้ข้อมูลได้คุ้มกว่าด้วยการสลับ validation fold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F530C0-F04F-45F9-8D54-049B10B8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33288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Eout = signal error + Noise²  |  true Eout ใช้ test grid 4,000 จุด และ Noise² = σ² = 0.09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5E0EE29-6541-4DF6-9005-A6D7365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83B2FC2-7A61-4156-967E-C4192B0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C73D586-A337-4406-9A5D-8FA40E7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2341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88AC5C-D6FF-4F73-B34B-08BB0867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E612E8-8589-4D80-8A2C-4D6302B5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F2CBD1-75A7-42FC-BE49-AC363C3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ผลการทดลอง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3D3682-B95C-4DE7-ADFA-396A9642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Bias / Variance / MSE ของตัวประมาณ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77D800A-61D4-4D1C-BB68-6F620CB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FD852A-021C-48B1-A40B-0644003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2471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Resubstitution มีแนวโน้มติดลบ เพราะประเมิน error ต่ำกว่าความจริง</a:t>
            </a: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8f8d8f5c84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235098"/>
            <a:ext cx="11045952" cy="2945587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A47EC24-0438-417A-928D-E3BB196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08192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แกนตั้ง = estimate − true Eout  |  เส้นดำ = 0  |  สามเหลี่ยมสีเขียว = ค่าเฉลี่ย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C33CE3E-B41A-4DD9-BF25-ACEE1DF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3E83C97-F046-4589-A4A9-EEB4D3C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A5BEB5-662C-4C39-94D4-1ED2B3D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9813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24D91B-0FDD-4A37-A74D-DC4B7ED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52D0FD-EA44-46AE-A61B-0A8511FB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3FE464C-14DC-46F0-BBEE-25DF23B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Sensitivity Analysis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35D269-4834-4112-9ED6-A4DBCD78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ผลของสัดส่วน Holdout และจำนวน fold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68C7C5-0032-49EB-BBC2-C1CB6899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8B626E-771F-4CB7-B45A-BCB69455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2471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Holdout ที่ใช้ข้อมูลฝึกน้อยเกินไปมี variance สูงมาก ส่วน K-Fold นิ่งขึ้นเมื่อ k เพิ่ม</a:t>
            </a: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accd629c6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5728" y="1399032"/>
            <a:ext cx="7388352" cy="461772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FC68241-2ECB-4F0A-8E71-B34501C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08192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ซ้าย: เปลี่ยนสัดส่วน train ของ Holdout  |  ขวา: เปลี่ยน k ของ K-Fold  |  ค่าที่ต่ำกว่ามักหมายถึง variance น้อยกว่า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CB61AB-F98A-4B1B-9E97-1169330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045743-6CC6-4D43-BF8C-821E088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2F60F9A-76D3-4AD9-9DEF-4B008E1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48179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B5B7C0-824D-4A5A-8144-55715F82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C92DF6-6246-4AD7-B96D-877E5BF3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6271A0-8AC6-499A-8E97-6019FD67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Sensitivity Analysis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028E4B-9BF3-47BE-90EB-32E0B5E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ผลของจำนวนข้อมูลและระดับ Noise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9D22FBD-AFA7-426F-BAD3-6136D444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23EC1F-6CEB-4490-BFBA-CE7568B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2471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เมื่อ n เพิ่ม variance ลดลง; เมื่อ σ เพิ่ม variance สูงขึ้น โดย Holdout และ Linear ได้รับผลชัดที่สุด</a:t>
            </a: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c79bb7b8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3956" y="1399032"/>
            <a:ext cx="8311896" cy="461772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A4F136D-9AE8-4C92-A066-C0A6294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08192"/>
            <a:ext cx="10881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แถวบน = Constant  |  แถวกลาง = Linear  |  แถวล่าง = Linear ผ่านจุดกำเนิด  |  น้ำเงิน = Resub  |  ส้ม = Holdout  |  เขียว = K-Fold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4A87CA-CF4B-46F9-B637-623ADA4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7823C1-3F7F-4F16-A56D-8AD2E24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E1A07E-EEF1-47DE-B2D2-80BBAE4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85190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179CC64-56AD-49B2-A63A-278D804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2089B4-84DC-4305-A8B4-84E2F5EC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40B11F8-5024-4B8A-BD3F-F9B08AC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3152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Conclusion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6709E3-AC19-4E84-BA27-C3B3394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212529"/>
                </a:solidFill>
                <a:latin typeface="Arial"/>
                <a:ea typeface="Arial"/>
                <a:cs typeface="Arial"/>
              </a:rPr>
              <a:t>สรุป: เลือกวิธีวัดผลให้เหมาะกับข้อมูล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05340BF-EE31-4F50-9511-DC1C378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786384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A76191-F9DA-43A6-87CF-C9313D4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3401568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72FC89-5CF1-43B1-95A9-8A5AF8BF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F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9F6A67-C868-401F-8E27-2027561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444751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77F00"/>
                </a:solidFill>
                <a:latin typeface="Arial"/>
                <a:ea typeface="Arial"/>
                <a:cs typeface="Arial"/>
              </a:rPr>
              <a:t>01  Resub ต่ำเกินจริง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42800D-F93E-4BE7-87F1-E390D2D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73936"/>
            <a:ext cx="3035808" cy="2496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การทดสอบบนชุดฝึก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ทำให้ error ดูดีเกินไป</a:t>
            </a:r>
            <a:br/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→ ใช้ดู fit เบื้องต้น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แต่อย่าใช้แทน Eout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960A99-33D2-40DB-92B4-E27ED4C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298448"/>
            <a:ext cx="3401568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688C33F-8810-410A-9BD9-61A8D6A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298448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5053B2-35AD-4887-9960-B9C9F9BC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444751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02  แบ่งข้อมูลมีผล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2084C9-C38A-4FC2-B5BC-395EB55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73936"/>
            <a:ext cx="3035808" cy="2496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Holdout ไวต่อสัดส่วน train / test</a:t>
            </a:r>
            <a:br/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K-Fold ใช้ข้อมูลคุ้มกว่า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และมักมี variance ต่ำลงเมื่อ k เพิ่ม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0334571-A721-4DA5-8FA9-0A165B27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298448"/>
            <a:ext cx="3401568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105284D-F2D4-40FE-8752-DAC36003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298448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14F743-B397-4AA1-8FCC-E4CDF568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44751"/>
            <a:ext cx="30358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03  ข้อมูลช่วยลด variance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52A51A-F0F6-40A9-84FA-8B3D910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73936"/>
            <a:ext cx="3035808" cy="2496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เพิ่ม n ทำให้ค่าประมาณนิ่งขึ้น</a:t>
            </a:r>
            <a:br/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noise สูงขึ้น → variance สูงขึ้น</a:t>
            </a:r>
            <a:br/>
            <a:r>
              <a:rPr sz="1800" b="0">
                <a:solidFill>
                  <a:srgbClr val="212529"/>
                </a:solidFill>
                <a:latin typeface="Arial"/>
                <a:ea typeface="Arial"/>
                <a:cs typeface="Arial"/>
              </a:rPr>
              <a:t>เห็นชัดใน Linear และ Holdout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187951B-68CA-4305-BAEA-87AFB37A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983480"/>
            <a:ext cx="100126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20532B2-D2C7-469C-B652-A741A0F8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57216"/>
            <a:ext cx="2468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D6A4F"/>
                </a:solidFill>
                <a:latin typeface="Arial"/>
                <a:ea typeface="Arial"/>
                <a:cs typeface="Arial"/>
              </a:rPr>
              <a:t>ประโยคสรุปสำหรับการนำเสนอ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3B8A4C-F150-47A7-812B-3804279D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04104"/>
            <a:ext cx="9372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การวัดผลที่ดีต้องเลียนแบบข้อมูลใหม่ให้มากที่สุด และต้องพิจารณา bias กับ variance ไปพร้อมกัน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68A946-EF6C-47BA-9EB6-E12D06EA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11045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2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AEE012-149F-49AC-930C-A57648B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7772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6C757D"/>
                </a:solidFill>
                <a:latin typeface="Arial"/>
                <a:ea typeface="Arial"/>
                <a:cs typeface="Arial"/>
              </a:rPr>
              <a:t>Machine Learning — Week 4  |  Performance Estimation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92DB4D-509E-4418-BCF6-03F70D3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6428232"/>
            <a:ext cx="5303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6C75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43161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2026-07-22T15:51:05.2900000Z</dcterms:created>
  <dcterms:modified xsi:type="dcterms:W3CDTF">2026-07-22T15:51:05.2900000Z</dcterms:modified>
</coreProperties>
</file>