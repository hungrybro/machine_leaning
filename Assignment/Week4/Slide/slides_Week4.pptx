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1389888"/>
            <a:ext cx="1051560" cy="320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66420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MODEL EVALUATION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029968"/>
            <a:ext cx="102412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ประเมินประสิทธิภาพโมเดล</a:t>
            </a:r>
            <a:br/>
            <a:r>
              <a:rPr sz="3000" b="1">
                <a:solidFill>
                  <a:srgbClr val="FFFFFF"/>
                </a:solidFill>
                <a:latin typeface="Arial"/>
              </a:rPr>
              <a:t>ด้วย Resubstitution, Holdout และ K-Fold CV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93008"/>
            <a:ext cx="9875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ทำไมค่าความผิดพลาดที่วัดได้ จึงไม่เท่ากับ Eout จริงเสมอ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Assignment 2  •  Performance Estimation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รายงานผลการทดลอง  |  Machine Learning — Week 4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4617720"/>
            <a:ext cx="22860" cy="1353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464515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ผู้จัดทำ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95604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นายสุภมงคล ชอบรัมย์</a:t>
            </a:r>
            <a:br/>
            <a:r>
              <a:rPr sz="1000" b="0">
                <a:solidFill>
                  <a:srgbClr val="FFFFFF"/>
                </a:solidFill>
                <a:latin typeface="Arial"/>
              </a:rPr>
              <a:t>นายชินวัตร กิตต๊ะ</a:t>
            </a:r>
            <a:br/>
            <a:r>
              <a:rPr sz="1000" b="0">
                <a:solidFill>
                  <a:srgbClr val="FFFFFF"/>
                </a:solidFill>
                <a:latin typeface="Arial"/>
              </a:rPr>
              <a:t>นายกฤตชัย พรายศรี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82528" y="642823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01 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โจทย์และการตั้งค่าการทดลอง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25880"/>
            <a:ext cx="4983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2D6A4F"/>
                </a:solidFill>
                <a:latin typeface="Arial"/>
              </a:rPr>
              <a:t>เราจะประมาณ Eout ของโมเดล</a:t>
            </a:r>
            <a:br/>
            <a:r>
              <a:rPr sz="2300" b="1">
                <a:solidFill>
                  <a:srgbClr val="2D6A4F"/>
                </a:solidFill>
                <a:latin typeface="Arial"/>
              </a:rPr>
              <a:t>จากข้อมูลชุดเดียวได้อย่างไร?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42032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C757D"/>
                </a:solidFill>
                <a:latin typeface="Arial"/>
              </a:rPr>
              <a:t>เปรียบเทียบวิธีวัด error กับค่า true Eout ที่รู้จากการจำลอง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234440"/>
            <a:ext cx="2606040" cy="14630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89320" y="1234440"/>
            <a:ext cx="73152" cy="14630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0488" y="1380744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D6A4F"/>
                </a:solidFill>
                <a:latin typeface="Arial"/>
              </a:rPr>
              <a:t>เป้าหมาย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1709928"/>
            <a:ext cx="22402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12529"/>
                </a:solidFill>
                <a:latin typeface="Arial"/>
              </a:rPr>
              <a:t>f(x) = sin(πx)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x ~ U(−1,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96528" y="1234440"/>
            <a:ext cx="2606040" cy="14630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96528" y="1234440"/>
            <a:ext cx="73152" cy="1463040"/>
          </a:xfrm>
          <a:prstGeom prst="rect">
            <a:avLst/>
          </a:prstGeom>
          <a:solidFill>
            <a:srgbClr val="F77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6" y="1380744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77F00"/>
                </a:solidFill>
                <a:latin typeface="Arial"/>
              </a:rPr>
              <a:t>โมเดล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6" y="1709928"/>
            <a:ext cx="22402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212529"/>
                </a:solidFill>
                <a:latin typeface="Arial"/>
              </a:rPr>
              <a:t>Constant</a:t>
            </a:r>
            <a:br/>
            <a:r>
              <a:rPr sz="1900" b="0">
                <a:solidFill>
                  <a:srgbClr val="212529"/>
                </a:solidFill>
                <a:latin typeface="Arial"/>
              </a:rPr>
              <a:t>Linear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89320" y="2971800"/>
            <a:ext cx="2606040" cy="14630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89320" y="2971800"/>
            <a:ext cx="73152" cy="14630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0488" y="3118104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D6A4F"/>
                </a:solidFill>
                <a:latin typeface="Arial"/>
              </a:rPr>
              <a:t>ข้อมูล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0488" y="3447288"/>
            <a:ext cx="22402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212529"/>
                </a:solidFill>
                <a:latin typeface="Arial"/>
              </a:rPr>
              <a:t>n = 20</a:t>
            </a:r>
            <a:br/>
            <a:r>
              <a:rPr sz="1900" b="0">
                <a:solidFill>
                  <a:srgbClr val="212529"/>
                </a:solidFill>
                <a:latin typeface="Arial"/>
              </a:rPr>
              <a:t>σ = 0.3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96528" y="2971800"/>
            <a:ext cx="2606040" cy="14630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96528" y="2971800"/>
            <a:ext cx="73152" cy="1463040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97696" y="3118104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62828"/>
                </a:solidFill>
                <a:latin typeface="Arial"/>
              </a:rPr>
              <a:t>การทดลอง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3447288"/>
            <a:ext cx="22402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12529"/>
                </a:solidFill>
                <a:latin typeface="Arial"/>
              </a:rPr>
              <a:t>2,000 ชุดข้อมูล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5-Fold CV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9320" y="4709160"/>
            <a:ext cx="5413248" cy="91440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89320" y="4709160"/>
            <a:ext cx="73152" cy="9144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0488" y="4855464"/>
            <a:ext cx="5047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D6A4F"/>
                </a:solidFill>
                <a:latin typeface="Arial"/>
              </a:rPr>
              <a:t>ค่าอ้างอิง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0488" y="5184648"/>
            <a:ext cx="504748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12529"/>
                </a:solidFill>
                <a:latin typeface="Arial"/>
              </a:rPr>
              <a:t>true Eout คำนวณบน grid 4,000 จุด และบวก noise² เพื่อสะท้อนข้อมูลใหม่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82528" y="642823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C757D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01  วิธีวัดผล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สามวิธีประมาณความผิดพลาด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704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C757D"/>
                </a:solidFill>
                <a:latin typeface="Arial"/>
              </a:rPr>
              <a:t>แต่ละวิธีใช้ข้อมูลไม่เหมือนกัน จึงมี bias และ variance ต่างกัน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3401568" cy="2148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91640"/>
            <a:ext cx="73152" cy="21488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37944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6A4F"/>
                </a:solidFill>
                <a:latin typeface="Arial"/>
              </a:rPr>
              <a:t>01  Resubstitution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167128"/>
            <a:ext cx="3035808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12529"/>
                </a:solidFill>
                <a:latin typeface="Arial"/>
              </a:rPr>
              <a:t>ฝึกและทดสอบบนข้อมูลชุดเดียวกัน</a:t>
            </a:r>
            <a:br/>
            <a:br/>
            <a:r>
              <a:rPr sz="1600" b="0">
                <a:solidFill>
                  <a:srgbClr val="212529"/>
                </a:solidFill>
                <a:latin typeface="Arial"/>
              </a:rPr>
              <a:t>มักประเมิน error ต่ำเกินจริง</a:t>
            </a:r>
            <a:br/>
            <a:r>
              <a:rPr sz="1600" b="0">
                <a:solidFill>
                  <a:srgbClr val="212529"/>
                </a:solidFill>
                <a:latin typeface="Arial"/>
              </a:rPr>
              <a:t>เพราะโมเดลเคยเห็นข้อมูลแล้ว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691640"/>
            <a:ext cx="3401568" cy="2148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691640"/>
            <a:ext cx="73152" cy="2148840"/>
          </a:xfrm>
          <a:prstGeom prst="rect">
            <a:avLst/>
          </a:prstGeom>
          <a:solidFill>
            <a:srgbClr val="F77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837944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77F00"/>
                </a:solidFill>
                <a:latin typeface="Arial"/>
              </a:rPr>
              <a:t>02  Holdout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167128"/>
            <a:ext cx="3035808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12529"/>
                </a:solidFill>
                <a:latin typeface="Arial"/>
              </a:rPr>
              <a:t>แบ่งข้อมูลเป็น train / test</a:t>
            </a:r>
            <a:br/>
            <a:br/>
            <a:r>
              <a:rPr sz="1600" b="0">
                <a:solidFill>
                  <a:srgbClr val="212529"/>
                </a:solidFill>
                <a:latin typeface="Arial"/>
              </a:rPr>
              <a:t>สะท้อนข้อมูลใหม่ได้ดีขึ้น</a:t>
            </a:r>
            <a:br/>
            <a:r>
              <a:rPr sz="1600" b="0">
                <a:solidFill>
                  <a:srgbClr val="212529"/>
                </a:solidFill>
                <a:latin typeface="Arial"/>
              </a:rPr>
              <a:t>แต่ผลขึ้นกับสัดส่วนที่แบ่ง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9872" y="1691640"/>
            <a:ext cx="3401568" cy="214884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2" y="1691640"/>
            <a:ext cx="73152" cy="21488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837944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6A4F"/>
                </a:solidFill>
                <a:latin typeface="Arial"/>
              </a:rPr>
              <a:t>03  K-Fold CV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167128"/>
            <a:ext cx="3035808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12529"/>
                </a:solidFill>
                <a:latin typeface="Arial"/>
              </a:rPr>
              <a:t>แบ่งเป็น k folds แล้วสลับ</a:t>
            </a:r>
            <a:br/>
            <a:r>
              <a:rPr sz="1600" b="0">
                <a:solidFill>
                  <a:srgbClr val="212529"/>
                </a:solidFill>
                <a:latin typeface="Arial"/>
              </a:rPr>
              <a:t>ชุด validation ให้ครบทุก fold</a:t>
            </a:r>
            <a:br/>
            <a:br/>
            <a:r>
              <a:rPr sz="1600" b="0">
                <a:solidFill>
                  <a:srgbClr val="212529"/>
                </a:solidFill>
                <a:latin typeface="Arial"/>
              </a:rPr>
              <a:t>ใช้ข้อมูลคุ้มกว่า holdout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315968"/>
            <a:ext cx="10863072" cy="9875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89704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วัดคุณภาพตัวประมาณ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800600"/>
            <a:ext cx="101498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Bias = E[estimate − true Eout]    |    Variance = Var(estimate)    |    MSE = E[(estimate − true Eout)²]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82528" y="642823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C757D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02  Numerical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ตัวเลขจากการทดลอง: เปรียบเทียบวิธีวัดผล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430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C757D"/>
                </a:solidFill>
                <a:latin typeface="Arial"/>
              </a:rPr>
              <a:t>ผลจากข้อมูลชุดเดียวที่ n = 20 และ σ = 0.3 — ค่าทั้งหมดมาจากโค้ด Week4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536192"/>
          <a:ext cx="1104595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148840"/>
                <a:gridCol w="2331720"/>
                <a:gridCol w="2057400"/>
                <a:gridCol w="2176272"/>
              </a:tblGrid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โมเดล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true Eout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Resubstitution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Holdout 70%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5-Fold CV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0.6343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0.4577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0.7149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0.5067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Linear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0.3003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0.3066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0.5889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529"/>
                          </a:solidFill>
                          <a:latin typeface="Arial"/>
                        </a:rPr>
                        <a:t>0.3905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8221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Arial"/>
              </a:rPr>
              <a:t>ข้อสังเกต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187952"/>
            <a:ext cx="54864" cy="1024128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197096"/>
            <a:ext cx="105613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12529"/>
                </a:solidFill>
                <a:latin typeface="Arial"/>
              </a:rPr>
              <a:t>Resubstitution มีแนวโน้มประเมิน error ต่ำกว่าค่า true Eout เพราะใช้ข้อมูลชุดฝึกเดิมในการทดสอบ</a:t>
            </a:r>
            <a:br/>
            <a:r>
              <a:rPr sz="1600" b="0">
                <a:solidFill>
                  <a:srgbClr val="212529"/>
                </a:solidFill>
                <a:latin typeface="Arial"/>
              </a:rPr>
              <a:t>ส่วน Holdout แปรผันตามการแบ่งข้อมูล และ K-Fold ใช้ข้อมูลได้คุ้มกว่าด้วยการสลับ validation fold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73328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Arial"/>
              </a:rPr>
              <a:t>หมายเหตุ: ตารางนี้ไม่มีการคำนวณมือ — ใช้ค่าจาก single dataset ใน HW2.py โดยตรง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82528" y="642823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C757D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02  ผลการทดลอง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Bias / Variance / MSE ของตัวประมาณ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247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C757D"/>
                </a:solidFill>
                <a:latin typeface="Arial"/>
              </a:rPr>
              <a:t>Resubstitution มีแนวโน้มติดลบ เพราะประเมิน error ต่ำกว่าความจริง</a:t>
            </a:r>
          </a:p>
        </p:txBody>
      </p:sp>
      <p:pic>
        <p:nvPicPr>
          <p:cNvPr id="8" name="Picture 7" descr="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98701"/>
            <a:ext cx="11045952" cy="44183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610819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Arial"/>
              </a:rPr>
              <a:t>แกนตั้ง = estimate − true Eout  |  เส้นดำ = 0  |  สามเหลี่ยมสีเขียว = ค่าเฉลี่ย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82528" y="642823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C757D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03  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ผลของสัดส่วน Holdout และจำนวน fold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247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C757D"/>
                </a:solidFill>
                <a:latin typeface="Arial"/>
              </a:rPr>
              <a:t>Holdout ที่ใช้ข้อมูลฝึกน้อยเกินไปมี variance สูงมาก ส่วน K-Fold นิ่งขึ้นเมื่อ k เพิ่ม</a:t>
            </a:r>
          </a:p>
        </p:txBody>
      </p:sp>
      <p:pic>
        <p:nvPicPr>
          <p:cNvPr id="8" name="Picture 7" descr="par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09" y="1399032"/>
            <a:ext cx="10554788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610819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Arial"/>
              </a:rPr>
              <a:t>ซ้าย: เปลี่ยนสัดส่วน train ของ Holdout  |  ขวา: เปลี่ยน k ของ K-Fold  |  ค่าที่ต่ำกว่ามักหมายถึง variance น้อยกว่า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82528" y="642823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C757D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03  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ผลของจำนวนข้อมูลและระดับ Noise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247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C757D"/>
                </a:solidFill>
                <a:latin typeface="Arial"/>
              </a:rPr>
              <a:t>เมื่อ n เพิ่ม variance ลดลง; เมื่อ σ เพิ่ม variance สูงขึ้น โดย Holdout และ Linear ได้รับผลชัดที่สุด</a:t>
            </a:r>
          </a:p>
        </p:txBody>
      </p:sp>
      <p:pic>
        <p:nvPicPr>
          <p:cNvPr id="8" name="Picture 7" descr="par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60068"/>
            <a:ext cx="11045952" cy="4295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610819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Arial"/>
              </a:rPr>
              <a:t>แถวบน = Constant  |  แถวล่าง = Linear  |  น้ำเงิน = Resub  |  ส้ม = Holdout  |  เขียว = K-Fold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82528" y="642823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C757D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04 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สรุป: เลือกวิธีวัดผลให้เหมาะกับข้อมูล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298448"/>
            <a:ext cx="3401568" cy="30632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3152" cy="3063240"/>
          </a:xfrm>
          <a:prstGeom prst="rect">
            <a:avLst/>
          </a:prstGeom>
          <a:solidFill>
            <a:srgbClr val="F77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444751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77F00"/>
                </a:solidFill>
                <a:latin typeface="Arial"/>
              </a:rPr>
              <a:t>01  Resub ต่ำเกินจริง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3035808" cy="2496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12529"/>
                </a:solidFill>
                <a:latin typeface="Arial"/>
              </a:rPr>
              <a:t>การทดสอบบนชุดฝึก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ทำให้ error ดูดีเกินไป</a:t>
            </a:r>
            <a:br/>
            <a:br/>
            <a:r>
              <a:rPr sz="1800" b="0">
                <a:solidFill>
                  <a:srgbClr val="212529"/>
                </a:solidFill>
                <a:latin typeface="Arial"/>
              </a:rPr>
              <a:t>→ ใช้ดู fit เบื้องต้น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แต่อย่าใช้แทน Eout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298448"/>
            <a:ext cx="3401568" cy="30632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298448"/>
            <a:ext cx="73152" cy="30632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444751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6A4F"/>
                </a:solidFill>
                <a:latin typeface="Arial"/>
              </a:rPr>
              <a:t>02  แบ่งข้อมูลมีผล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1773936"/>
            <a:ext cx="3035808" cy="2496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12529"/>
                </a:solidFill>
                <a:latin typeface="Arial"/>
              </a:rPr>
              <a:t>Holdout ไวต่อสัดส่วน train / test</a:t>
            </a:r>
            <a:br/>
            <a:br/>
            <a:r>
              <a:rPr sz="1800" b="0">
                <a:solidFill>
                  <a:srgbClr val="212529"/>
                </a:solidFill>
                <a:latin typeface="Arial"/>
              </a:rPr>
              <a:t>K-Fold ใช้ข้อมูลคุ้มกว่า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และมักมี variance ต่ำลงเมื่อ k เพิ่ม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1298448"/>
            <a:ext cx="3401568" cy="306324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1298448"/>
            <a:ext cx="73152" cy="30632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444751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6A4F"/>
                </a:solidFill>
                <a:latin typeface="Arial"/>
              </a:rPr>
              <a:t>03  ข้อมูลช่วยลด variance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773936"/>
            <a:ext cx="3035808" cy="2496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12529"/>
                </a:solidFill>
                <a:latin typeface="Arial"/>
              </a:rPr>
              <a:t>เพิ่ม n ทำให้ค่าประมาณนิ่งขึ้น</a:t>
            </a:r>
            <a:br/>
            <a:br/>
            <a:r>
              <a:rPr sz="1800" b="0">
                <a:solidFill>
                  <a:srgbClr val="212529"/>
                </a:solidFill>
                <a:latin typeface="Arial"/>
              </a:rPr>
              <a:t>noise สูงขึ้น → variance สูงขึ้น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โดยเฉพาะ Linear + Holdout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4983480"/>
            <a:ext cx="10012680" cy="8686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5157216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D6A4F"/>
                </a:solidFill>
                <a:latin typeface="Arial"/>
              </a:rPr>
              <a:t>ประโยคสรุปสำหรับการนำเสนอ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404104"/>
            <a:ext cx="9372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rial"/>
              </a:rPr>
              <a:t>การวัดผลที่ดีต้องเลียนแบบข้อมูลใหม่ให้มากที่สุด และต้องพิจารณา bias กับ variance ไปพร้อมกัน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428232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C757D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